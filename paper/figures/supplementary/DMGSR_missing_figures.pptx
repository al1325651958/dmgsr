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G1 fills the missing depiction of the four gap families. Patterns are regenerated from the repository's own random_observation_mask, so they are reproducible; the spatial panel shows the union of a real spatial-mode mask. No skill is claimed here. Intended placement: Data and evaluation design, after the paragraph that defines the masks.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G2 expands the single 'constraint feedback every 8 steps' box of Figure 2 into the actual operation order of dmgsr.masked_temporal.sample_masked, using the constants in the code (chunk size 8, 64 steps, gain clip 0.15-0.85, graph strength 0.15, ceiling U = max(50, 1.05 max(Ra,20))). It introduces no new result. Intended placement: Methods, Graph penalties and constraint feedback.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G3 documents the graph ablation required by the manuscript's own Discussion, which states that no controlled ablation is available. All four configurations share data, split, mask schedule, seeds, epochs and selection rule; only the graph-structure loss weight and the two inference-time graph operations vary. Numbers come from dmgsr.ablation and are regenerated from outputs/ablation_graph/ablation_results.json.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slide kept in the deck so the PPTX explains its own status. It records the audit outcome and the three experiment-level gaps that no figure can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01168"/>
            <a:ext cx="11247120" cy="365760"/>
          </a:xfrm>
          <a:prstGeom prst="rect">
            <a:avLst/>
          </a:prstGeom>
          <a:noFill/>
        </p:spPr>
        <p:txBody>
          <a:bodyPr wrap="square" anchor="t">
            <a:spAutoFit/>
          </a:bodyPr>
          <a:lstStyle/>
          <a:p>
            <a:pPr algn="l">
              <a:lnSpc>
                <a:spcPct val="100000"/>
              </a:lnSpc>
            </a:pPr>
            <a:r>
              <a:rPr sz="2200" b="1" i="0">
                <a:solidFill>
                  <a:srgbClr val="1F2A37"/>
                </a:solidFill>
                <a:latin typeface="Calibri"/>
              </a:rPr>
              <a:t>Missing figure 1 — Artificial gap regimes used in the evaluation</a:t>
            </a:r>
          </a:p>
        </p:txBody>
      </p:sp>
      <p:sp>
        <p:nvSpPr>
          <p:cNvPr id="4" name="TextBox 3"/>
          <p:cNvSpPr txBox="1"/>
          <p:nvPr/>
        </p:nvSpPr>
        <p:spPr>
          <a:xfrm>
            <a:off x="457200" y="640080"/>
            <a:ext cx="11247120" cy="310896"/>
          </a:xfrm>
          <a:prstGeom prst="rect">
            <a:avLst/>
          </a:prstGeom>
          <a:noFill/>
        </p:spPr>
        <p:txBody>
          <a:bodyPr wrap="square" anchor="t">
            <a:spAutoFit/>
          </a:bodyPr>
          <a:lstStyle/>
          <a:p>
            <a:pPr algn="l">
              <a:lnSpc>
                <a:spcPct val="100000"/>
              </a:lnSpc>
            </a:pPr>
            <a:r>
              <a:rPr sz="1050" b="0" i="0">
                <a:solidFill>
                  <a:srgbClr val="5B6B7A"/>
                </a:solidFill>
                <a:latin typeface="Calibri"/>
              </a:rPr>
              <a:t>Daily NASA POWER radiation on a 10 x 10 grid, 20-30 N / 100-110 E. Every evaluated gap is synthetic; the manuscript defines four families but currently shows none of them.</a:t>
            </a:r>
          </a:p>
        </p:txBody>
      </p:sp>
      <p:sp>
        <p:nvSpPr>
          <p:cNvPr id="5" name="Rounded Rectangle 4"/>
          <p:cNvSpPr/>
          <p:nvPr/>
        </p:nvSpPr>
        <p:spPr>
          <a:xfrm>
            <a:off x="301752" y="1060704"/>
            <a:ext cx="2788920" cy="3840480"/>
          </a:xfrm>
          <a:prstGeom prst="roundRect">
            <a:avLst>
              <a:gd name="adj" fmla="val 35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20624" y="1170432"/>
            <a:ext cx="2551176" cy="237744"/>
          </a:xfrm>
          <a:prstGeom prst="rect">
            <a:avLst/>
          </a:prstGeom>
          <a:noFill/>
        </p:spPr>
        <p:txBody>
          <a:bodyPr wrap="square" anchor="t">
            <a:spAutoFit/>
          </a:bodyPr>
          <a:lstStyle/>
          <a:p>
            <a:pPr algn="l">
              <a:lnSpc>
                <a:spcPct val="100000"/>
              </a:lnSpc>
            </a:pPr>
            <a:r>
              <a:rPr sz="1400" b="1" i="0">
                <a:solidFill>
                  <a:srgbClr val="1F2A37"/>
                </a:solidFill>
                <a:latin typeface="Calibri"/>
              </a:rPr>
              <a:t>Temporal</a:t>
            </a:r>
          </a:p>
        </p:txBody>
      </p:sp>
      <p:sp>
        <p:nvSpPr>
          <p:cNvPr id="7" name="TextBox 6"/>
          <p:cNvSpPr txBox="1"/>
          <p:nvPr/>
        </p:nvSpPr>
        <p:spPr>
          <a:xfrm>
            <a:off x="420624" y="1444752"/>
            <a:ext cx="2551176" cy="420624"/>
          </a:xfrm>
          <a:prstGeom prst="rect">
            <a:avLst/>
          </a:prstGeom>
          <a:noFill/>
        </p:spPr>
        <p:txBody>
          <a:bodyPr wrap="square" anchor="t">
            <a:spAutoFit/>
          </a:bodyPr>
          <a:lstStyle/>
          <a:p>
            <a:pPr algn="l">
              <a:lnSpc>
                <a:spcPct val="106000"/>
              </a:lnSpc>
            </a:pPr>
            <a:r>
              <a:rPr sz="950" b="0" i="0">
                <a:solidFill>
                  <a:srgbClr val="5B6B7A"/>
                </a:solidFill>
                <a:latin typeface="Calibri"/>
              </a:rPr>
              <a:t>A contiguous run of 1-7 days</a:t>
            </a:r>
          </a:p>
          <a:p>
            <a:pPr algn="l">
              <a:lnSpc>
                <a:spcPct val="106000"/>
              </a:lnSpc>
            </a:pPr>
            <a:r>
              <a:rPr sz="950" b="0" i="0">
                <a:solidFill>
                  <a:srgbClr val="5B6B7A"/>
                </a:solidFill>
                <a:latin typeface="Calibri"/>
              </a:rPr>
              <a:t>is hidden at every grid cell.</a:t>
            </a:r>
          </a:p>
        </p:txBody>
      </p:sp>
      <p:sp>
        <p:nvSpPr>
          <p:cNvPr id="8" name="Rectangle 7"/>
          <p:cNvSpPr/>
          <p:nvPr/>
        </p:nvSpPr>
        <p:spPr>
          <a:xfrm>
            <a:off x="427024"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55040"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83056"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11072"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9088"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067104"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95120"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323136"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451152"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579168"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27024"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55040"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83056"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11072"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9088"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067104"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95120"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323136"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451152"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579168"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27024"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55040"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83056"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11072"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39088"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067104"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195120"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323136"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451152"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579168"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27024"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55040"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83056"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11072"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39088"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067104"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195120"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323136"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451152"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579168"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427024"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55040"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83056"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811072"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39088"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67104"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195120"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323136"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451152"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579168"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27024"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555040"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683056"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811072"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939088"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067104"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195120"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323136"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451152"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579168"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27024"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555040"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83056"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811072"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939088"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067104"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195120"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23136"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51152"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579168"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427024"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55040"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683056"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811072"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939088"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067104"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195120"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323136"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451152"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579168"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427024"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5040"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683056"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11072"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939088"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067104"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195120"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323136"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451152"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579168"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427024"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555040"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83056"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811072"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939088"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067104"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1195120"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323136"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1451152"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1579168"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512064" y="3374136"/>
            <a:ext cx="109728" cy="109728"/>
          </a:xfrm>
          <a:prstGeom prst="rect">
            <a:avLst/>
          </a:prstGeom>
          <a:solidFill>
            <a:srgbClr val="18858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65836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hidden</a:t>
            </a:r>
          </a:p>
        </p:txBody>
      </p:sp>
      <p:sp>
        <p:nvSpPr>
          <p:cNvPr id="110" name="Rectangle 109"/>
          <p:cNvSpPr/>
          <p:nvPr/>
        </p:nvSpPr>
        <p:spPr>
          <a:xfrm>
            <a:off x="1335024" y="3374136"/>
            <a:ext cx="109728" cy="109728"/>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148132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never hidden</a:t>
            </a:r>
          </a:p>
        </p:txBody>
      </p:sp>
      <p:sp>
        <p:nvSpPr>
          <p:cNvPr id="112" name="Rectangle 111"/>
          <p:cNvSpPr/>
          <p:nvPr/>
        </p:nvSpPr>
        <p:spPr>
          <a:xfrm>
            <a:off x="420624"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503291"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585958"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68625"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51292"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833959"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916626"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999293"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081960"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164627"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247294" y="3712464"/>
            <a:ext cx="71146"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1329961"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1412628"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1495295"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1577962"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1660629"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1743296"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1825963"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1908630"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1991297"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2073964"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2156631"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2239298"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2321965"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2404632"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2487299"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2569966"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2652633" y="3712464"/>
            <a:ext cx="71146"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2735300" y="3712464"/>
            <a:ext cx="71146"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2817967" y="3712464"/>
            <a:ext cx="71146"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2900634" y="3712464"/>
            <a:ext cx="71146"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420624" y="3913632"/>
            <a:ext cx="2551176" cy="164592"/>
          </a:xfrm>
          <a:prstGeom prst="rect">
            <a:avLst/>
          </a:prstGeom>
          <a:noFill/>
        </p:spPr>
        <p:txBody>
          <a:bodyPr wrap="square" anchor="t">
            <a:spAutoFit/>
          </a:bodyPr>
          <a:lstStyle/>
          <a:p>
            <a:pPr algn="l">
              <a:lnSpc>
                <a:spcPct val="100000"/>
              </a:lnSpc>
            </a:pPr>
            <a:r>
              <a:rPr sz="850" b="0" i="0">
                <a:solidFill>
                  <a:srgbClr val="1F2A37"/>
                </a:solidFill>
                <a:latin typeface="Calibri"/>
              </a:rPr>
              <a:t>hidden days: 7  (day 1-11 of 28)</a:t>
            </a:r>
          </a:p>
        </p:txBody>
      </p:sp>
      <p:sp>
        <p:nvSpPr>
          <p:cNvPr id="144" name="TextBox 143"/>
          <p:cNvSpPr txBox="1"/>
          <p:nvPr/>
        </p:nvSpPr>
        <p:spPr>
          <a:xfrm>
            <a:off x="420624" y="4096512"/>
            <a:ext cx="2551176" cy="164592"/>
          </a:xfrm>
          <a:prstGeom prst="rect">
            <a:avLst/>
          </a:prstGeom>
          <a:noFill/>
        </p:spPr>
        <p:txBody>
          <a:bodyPr wrap="square" anchor="t">
            <a:spAutoFit/>
          </a:bodyPr>
          <a:lstStyle/>
          <a:p>
            <a:pPr algn="l">
              <a:lnSpc>
                <a:spcPct val="100000"/>
              </a:lnSpc>
            </a:pPr>
            <a:r>
              <a:rPr sz="750" b="0" i="1">
                <a:solidFill>
                  <a:srgbClr val="5B6B7A"/>
                </a:solidFill>
                <a:latin typeface="Calibri"/>
              </a:rPr>
              <a:t>pale = padded days 29-31</a:t>
            </a:r>
          </a:p>
        </p:txBody>
      </p:sp>
      <p:sp>
        <p:nvSpPr>
          <p:cNvPr id="145" name="Rounded Rectangle 144"/>
          <p:cNvSpPr/>
          <p:nvPr/>
        </p:nvSpPr>
        <p:spPr>
          <a:xfrm>
            <a:off x="3204972" y="1060704"/>
            <a:ext cx="2788920" cy="3840480"/>
          </a:xfrm>
          <a:prstGeom prst="roundRect">
            <a:avLst>
              <a:gd name="adj" fmla="val 35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3323844" y="1170432"/>
            <a:ext cx="2551176" cy="237744"/>
          </a:xfrm>
          <a:prstGeom prst="rect">
            <a:avLst/>
          </a:prstGeom>
          <a:noFill/>
        </p:spPr>
        <p:txBody>
          <a:bodyPr wrap="square" anchor="t">
            <a:spAutoFit/>
          </a:bodyPr>
          <a:lstStyle/>
          <a:p>
            <a:pPr algn="l">
              <a:lnSpc>
                <a:spcPct val="100000"/>
              </a:lnSpc>
            </a:pPr>
            <a:r>
              <a:rPr sz="1400" b="1" i="0">
                <a:solidFill>
                  <a:srgbClr val="1F2A37"/>
                </a:solidFill>
                <a:latin typeface="Calibri"/>
              </a:rPr>
              <a:t>Spatial</a:t>
            </a:r>
          </a:p>
        </p:txBody>
      </p:sp>
      <p:sp>
        <p:nvSpPr>
          <p:cNvPr id="147" name="TextBox 146"/>
          <p:cNvSpPr txBox="1"/>
          <p:nvPr/>
        </p:nvSpPr>
        <p:spPr>
          <a:xfrm>
            <a:off x="3323844" y="1444752"/>
            <a:ext cx="2551176" cy="420624"/>
          </a:xfrm>
          <a:prstGeom prst="rect">
            <a:avLst/>
          </a:prstGeom>
          <a:noFill/>
        </p:spPr>
        <p:txBody>
          <a:bodyPr wrap="square" anchor="t">
            <a:spAutoFit/>
          </a:bodyPr>
          <a:lstStyle/>
          <a:p>
            <a:pPr algn="l">
              <a:lnSpc>
                <a:spcPct val="106000"/>
              </a:lnSpc>
            </a:pPr>
            <a:r>
              <a:rPr sz="950" b="0" i="0">
                <a:solidFill>
                  <a:srgbClr val="5B6B7A"/>
                </a:solidFill>
                <a:latin typeface="Calibri"/>
              </a:rPr>
              <a:t>A 2-5 cell sided rectangle is</a:t>
            </a:r>
          </a:p>
          <a:p>
            <a:pPr algn="l">
              <a:lnSpc>
                <a:spcPct val="106000"/>
              </a:lnSpc>
            </a:pPr>
            <a:r>
              <a:rPr sz="950" b="0" i="0">
                <a:solidFill>
                  <a:srgbClr val="5B6B7A"/>
                </a:solidFill>
                <a:latin typeface="Calibri"/>
              </a:rPr>
              <a:t>hidden with no run constraint.</a:t>
            </a:r>
          </a:p>
        </p:txBody>
      </p:sp>
      <p:sp>
        <p:nvSpPr>
          <p:cNvPr id="148" name="Rectangle 147"/>
          <p:cNvSpPr/>
          <p:nvPr/>
        </p:nvSpPr>
        <p:spPr>
          <a:xfrm>
            <a:off x="3330244"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3458260"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3586276"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3714292"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3842308"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3970324"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4098340"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4226356"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4354372"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4482388" y="199979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3330244"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3458260"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3586276"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3714292"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3842308"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3970324"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4098340"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4226356"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4354372"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4482388" y="212780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3330244"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3458260"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3586276"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3714292"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3842308"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3970324"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4098340"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4226356"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4354372"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4482388" y="225582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3330244"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3458260"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3586276"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3714292"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3842308"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3970324"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4098340"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4226356"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4354372"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4482388" y="238384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3330244"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Rectangle 188"/>
          <p:cNvSpPr/>
          <p:nvPr/>
        </p:nvSpPr>
        <p:spPr>
          <a:xfrm>
            <a:off x="3458260"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Rectangle 189"/>
          <p:cNvSpPr/>
          <p:nvPr/>
        </p:nvSpPr>
        <p:spPr>
          <a:xfrm>
            <a:off x="3586276"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3714292"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Rectangle 191"/>
          <p:cNvSpPr/>
          <p:nvPr/>
        </p:nvSpPr>
        <p:spPr>
          <a:xfrm>
            <a:off x="3842308"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Rectangle 192"/>
          <p:cNvSpPr/>
          <p:nvPr/>
        </p:nvSpPr>
        <p:spPr>
          <a:xfrm>
            <a:off x="3970324"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ectangle 193"/>
          <p:cNvSpPr/>
          <p:nvPr/>
        </p:nvSpPr>
        <p:spPr>
          <a:xfrm>
            <a:off x="4098340"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ectangle 194"/>
          <p:cNvSpPr/>
          <p:nvPr/>
        </p:nvSpPr>
        <p:spPr>
          <a:xfrm>
            <a:off x="4226356"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Rectangle 195"/>
          <p:cNvSpPr/>
          <p:nvPr/>
        </p:nvSpPr>
        <p:spPr>
          <a:xfrm>
            <a:off x="4354372"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4482388" y="251185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3330244"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3458260"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3586276"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3714292"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3842308"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3970324"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4098340"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4226356"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4354372"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4482388" y="2639872"/>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3330244"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3458260"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3586276"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3714292"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3842308"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3970324"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4098340"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4226356"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4354372"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4482388" y="2767888"/>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Rectangle 217"/>
          <p:cNvSpPr/>
          <p:nvPr/>
        </p:nvSpPr>
        <p:spPr>
          <a:xfrm>
            <a:off x="3330244"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Rectangle 218"/>
          <p:cNvSpPr/>
          <p:nvPr/>
        </p:nvSpPr>
        <p:spPr>
          <a:xfrm>
            <a:off x="3458260"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Rectangle 219"/>
          <p:cNvSpPr/>
          <p:nvPr/>
        </p:nvSpPr>
        <p:spPr>
          <a:xfrm>
            <a:off x="3586276"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Rectangle 220"/>
          <p:cNvSpPr/>
          <p:nvPr/>
        </p:nvSpPr>
        <p:spPr>
          <a:xfrm>
            <a:off x="3714292"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Rectangle 221"/>
          <p:cNvSpPr/>
          <p:nvPr/>
        </p:nvSpPr>
        <p:spPr>
          <a:xfrm>
            <a:off x="3842308"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Rectangle 222"/>
          <p:cNvSpPr/>
          <p:nvPr/>
        </p:nvSpPr>
        <p:spPr>
          <a:xfrm>
            <a:off x="3970324"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Rectangle 223"/>
          <p:cNvSpPr/>
          <p:nvPr/>
        </p:nvSpPr>
        <p:spPr>
          <a:xfrm>
            <a:off x="4098340"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5" name="Rectangle 224"/>
          <p:cNvSpPr/>
          <p:nvPr/>
        </p:nvSpPr>
        <p:spPr>
          <a:xfrm>
            <a:off x="4226356"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Rectangle 225"/>
          <p:cNvSpPr/>
          <p:nvPr/>
        </p:nvSpPr>
        <p:spPr>
          <a:xfrm>
            <a:off x="4354372"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7" name="Rectangle 226"/>
          <p:cNvSpPr/>
          <p:nvPr/>
        </p:nvSpPr>
        <p:spPr>
          <a:xfrm>
            <a:off x="4482388" y="2895904"/>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Rectangle 227"/>
          <p:cNvSpPr/>
          <p:nvPr/>
        </p:nvSpPr>
        <p:spPr>
          <a:xfrm>
            <a:off x="3330244"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Rectangle 228"/>
          <p:cNvSpPr/>
          <p:nvPr/>
        </p:nvSpPr>
        <p:spPr>
          <a:xfrm>
            <a:off x="3458260"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Rectangle 229"/>
          <p:cNvSpPr/>
          <p:nvPr/>
        </p:nvSpPr>
        <p:spPr>
          <a:xfrm>
            <a:off x="3586276"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Rectangle 230"/>
          <p:cNvSpPr/>
          <p:nvPr/>
        </p:nvSpPr>
        <p:spPr>
          <a:xfrm>
            <a:off x="3714292"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Rectangle 231"/>
          <p:cNvSpPr/>
          <p:nvPr/>
        </p:nvSpPr>
        <p:spPr>
          <a:xfrm>
            <a:off x="3842308"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Rectangle 232"/>
          <p:cNvSpPr/>
          <p:nvPr/>
        </p:nvSpPr>
        <p:spPr>
          <a:xfrm>
            <a:off x="3970324"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Rectangle 233"/>
          <p:cNvSpPr/>
          <p:nvPr/>
        </p:nvSpPr>
        <p:spPr>
          <a:xfrm>
            <a:off x="4098340"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Rectangle 234"/>
          <p:cNvSpPr/>
          <p:nvPr/>
        </p:nvSpPr>
        <p:spPr>
          <a:xfrm>
            <a:off x="4226356"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Rectangle 235"/>
          <p:cNvSpPr/>
          <p:nvPr/>
        </p:nvSpPr>
        <p:spPr>
          <a:xfrm>
            <a:off x="4354372"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Rectangle 236"/>
          <p:cNvSpPr/>
          <p:nvPr/>
        </p:nvSpPr>
        <p:spPr>
          <a:xfrm>
            <a:off x="4482388" y="3023920"/>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Rectangle 237"/>
          <p:cNvSpPr/>
          <p:nvPr/>
        </p:nvSpPr>
        <p:spPr>
          <a:xfrm>
            <a:off x="3330244"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Rectangle 238"/>
          <p:cNvSpPr/>
          <p:nvPr/>
        </p:nvSpPr>
        <p:spPr>
          <a:xfrm>
            <a:off x="3458260"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Rectangle 239"/>
          <p:cNvSpPr/>
          <p:nvPr/>
        </p:nvSpPr>
        <p:spPr>
          <a:xfrm>
            <a:off x="3586276"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1" name="Rectangle 240"/>
          <p:cNvSpPr/>
          <p:nvPr/>
        </p:nvSpPr>
        <p:spPr>
          <a:xfrm>
            <a:off x="3714292"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Rectangle 241"/>
          <p:cNvSpPr/>
          <p:nvPr/>
        </p:nvSpPr>
        <p:spPr>
          <a:xfrm>
            <a:off x="3842308"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3970324"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4098340"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4226356"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4354372"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4482388" y="3151936"/>
            <a:ext cx="115216" cy="115216"/>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3415284" y="3374136"/>
            <a:ext cx="109728" cy="109728"/>
          </a:xfrm>
          <a:prstGeom prst="rect">
            <a:avLst/>
          </a:prstGeom>
          <a:solidFill>
            <a:srgbClr val="18858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TextBox 248"/>
          <p:cNvSpPr txBox="1"/>
          <p:nvPr/>
        </p:nvSpPr>
        <p:spPr>
          <a:xfrm>
            <a:off x="356158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hidden</a:t>
            </a:r>
          </a:p>
        </p:txBody>
      </p:sp>
      <p:sp>
        <p:nvSpPr>
          <p:cNvPr id="250" name="Rectangle 249"/>
          <p:cNvSpPr/>
          <p:nvPr/>
        </p:nvSpPr>
        <p:spPr>
          <a:xfrm>
            <a:off x="4238244" y="3374136"/>
            <a:ext cx="109728" cy="109728"/>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TextBox 250"/>
          <p:cNvSpPr txBox="1"/>
          <p:nvPr/>
        </p:nvSpPr>
        <p:spPr>
          <a:xfrm>
            <a:off x="438454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never hidden</a:t>
            </a:r>
          </a:p>
        </p:txBody>
      </p:sp>
      <p:sp>
        <p:nvSpPr>
          <p:cNvPr id="252" name="TextBox 251"/>
          <p:cNvSpPr txBox="1"/>
          <p:nvPr/>
        </p:nvSpPr>
        <p:spPr>
          <a:xfrm>
            <a:off x="3323844" y="3675888"/>
            <a:ext cx="2551176" cy="658368"/>
          </a:xfrm>
          <a:prstGeom prst="rect">
            <a:avLst/>
          </a:prstGeom>
          <a:noFill/>
        </p:spPr>
        <p:txBody>
          <a:bodyPr wrap="square" anchor="t">
            <a:spAutoFit/>
          </a:bodyPr>
          <a:lstStyle/>
          <a:p>
            <a:pPr algn="l">
              <a:lnSpc>
                <a:spcPct val="110000"/>
              </a:lnSpc>
            </a:pPr>
            <a:r>
              <a:rPr sz="850" b="0" i="0">
                <a:solidFill>
                  <a:srgbClr val="1F2A37"/>
                </a:solidFill>
                <a:latin typeface="Calibri"/>
              </a:rPr>
              <a:t>No temporal constraint. The rectangle is placed</a:t>
            </a:r>
          </a:p>
          <a:p>
            <a:pPr algn="l">
              <a:lnSpc>
                <a:spcPct val="110000"/>
              </a:lnSpc>
            </a:pPr>
            <a:r>
              <a:rPr sz="850" b="0" i="0">
                <a:solidFill>
                  <a:srgbClr val="1F2A37"/>
                </a:solidFill>
                <a:latin typeface="Calibri"/>
              </a:rPr>
              <a:t>independently of the calendar and is redrawn</a:t>
            </a:r>
          </a:p>
          <a:p>
            <a:pPr algn="l">
              <a:lnSpc>
                <a:spcPct val="110000"/>
              </a:lnSpc>
            </a:pPr>
            <a:r>
              <a:rPr sz="850" b="0" i="0">
                <a:solidFill>
                  <a:srgbClr val="1F2A37"/>
                </a:solidFill>
                <a:latin typeface="Calibri"/>
              </a:rPr>
              <a:t>on every training sample.</a:t>
            </a:r>
          </a:p>
        </p:txBody>
      </p:sp>
      <p:sp>
        <p:nvSpPr>
          <p:cNvPr id="253" name="TextBox 252"/>
          <p:cNvSpPr txBox="1"/>
          <p:nvPr/>
        </p:nvSpPr>
        <p:spPr>
          <a:xfrm>
            <a:off x="3323844" y="4352544"/>
            <a:ext cx="2551176" cy="365760"/>
          </a:xfrm>
          <a:prstGeom prst="rect">
            <a:avLst/>
          </a:prstGeom>
          <a:noFill/>
        </p:spPr>
        <p:txBody>
          <a:bodyPr wrap="square" anchor="t">
            <a:spAutoFit/>
          </a:bodyPr>
          <a:lstStyle/>
          <a:p>
            <a:pPr algn="l">
              <a:lnSpc>
                <a:spcPct val="110000"/>
              </a:lnSpc>
            </a:pPr>
            <a:r>
              <a:rPr sz="750" b="0" i="1">
                <a:solidFill>
                  <a:srgbClr val="5B6B7A"/>
                </a:solidFill>
                <a:latin typeface="Calibri"/>
              </a:rPr>
              <a:t>Union over a real spatial-mode mask.</a:t>
            </a:r>
          </a:p>
          <a:p>
            <a:pPr algn="l">
              <a:lnSpc>
                <a:spcPct val="110000"/>
              </a:lnSpc>
            </a:pPr>
            <a:r>
              <a:rPr sz="750" b="0" i="1">
                <a:solidFill>
                  <a:srgbClr val="5B6B7A"/>
                </a:solidFill>
                <a:latin typeface="Calibri"/>
              </a:rPr>
              <a:t>Row 0 is the southern edge, 20 N.</a:t>
            </a:r>
          </a:p>
        </p:txBody>
      </p:sp>
      <p:sp>
        <p:nvSpPr>
          <p:cNvPr id="254" name="Rounded Rectangle 253"/>
          <p:cNvSpPr/>
          <p:nvPr/>
        </p:nvSpPr>
        <p:spPr>
          <a:xfrm>
            <a:off x="6108192" y="1060704"/>
            <a:ext cx="2788920" cy="3840480"/>
          </a:xfrm>
          <a:prstGeom prst="roundRect">
            <a:avLst>
              <a:gd name="adj" fmla="val 35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TextBox 254"/>
          <p:cNvSpPr txBox="1"/>
          <p:nvPr/>
        </p:nvSpPr>
        <p:spPr>
          <a:xfrm>
            <a:off x="6227064" y="1170432"/>
            <a:ext cx="2551176" cy="237744"/>
          </a:xfrm>
          <a:prstGeom prst="rect">
            <a:avLst/>
          </a:prstGeom>
          <a:noFill/>
        </p:spPr>
        <p:txBody>
          <a:bodyPr wrap="square" anchor="t">
            <a:spAutoFit/>
          </a:bodyPr>
          <a:lstStyle/>
          <a:p>
            <a:pPr algn="l">
              <a:lnSpc>
                <a:spcPct val="100000"/>
              </a:lnSpc>
            </a:pPr>
            <a:r>
              <a:rPr sz="1400" b="1" i="0">
                <a:solidFill>
                  <a:srgbClr val="1F2A37"/>
                </a:solidFill>
                <a:latin typeface="Calibri"/>
              </a:rPr>
              <a:t>Endpoint</a:t>
            </a:r>
          </a:p>
        </p:txBody>
      </p:sp>
      <p:sp>
        <p:nvSpPr>
          <p:cNvPr id="256" name="TextBox 255"/>
          <p:cNvSpPr txBox="1"/>
          <p:nvPr/>
        </p:nvSpPr>
        <p:spPr>
          <a:xfrm>
            <a:off x="6227064" y="1444752"/>
            <a:ext cx="2551176" cy="420624"/>
          </a:xfrm>
          <a:prstGeom prst="rect">
            <a:avLst/>
          </a:prstGeom>
          <a:noFill/>
        </p:spPr>
        <p:txBody>
          <a:bodyPr wrap="square" anchor="t">
            <a:spAutoFit/>
          </a:bodyPr>
          <a:lstStyle/>
          <a:p>
            <a:pPr algn="l">
              <a:lnSpc>
                <a:spcPct val="106000"/>
              </a:lnSpc>
            </a:pPr>
            <a:r>
              <a:rPr sz="950" b="0" i="0">
                <a:solidFill>
                  <a:srgbClr val="5B6B7A"/>
                </a:solidFill>
                <a:latin typeface="Calibri"/>
              </a:rPr>
              <a:t>The hidden run starts on day 1</a:t>
            </a:r>
          </a:p>
          <a:p>
            <a:pPr algn="l">
              <a:lnSpc>
                <a:spcPct val="106000"/>
              </a:lnSpc>
            </a:pPr>
            <a:r>
              <a:rPr sz="950" b="0" i="0">
                <a:solidFill>
                  <a:srgbClr val="5B6B7A"/>
                </a:solidFill>
                <a:latin typeface="Calibri"/>
              </a:rPr>
              <a:t>or ends on the last valid day.</a:t>
            </a:r>
          </a:p>
        </p:txBody>
      </p:sp>
      <p:sp>
        <p:nvSpPr>
          <p:cNvPr id="257" name="Rectangle 256"/>
          <p:cNvSpPr/>
          <p:nvPr/>
        </p:nvSpPr>
        <p:spPr>
          <a:xfrm>
            <a:off x="6233464"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6361480"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6489496"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6617512"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6745528"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6873544"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7001560"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7129576"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7257592"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7385608"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6233464"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6361480"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6489496"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Rectangle 269"/>
          <p:cNvSpPr/>
          <p:nvPr/>
        </p:nvSpPr>
        <p:spPr>
          <a:xfrm>
            <a:off x="6617512"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Rectangle 270"/>
          <p:cNvSpPr/>
          <p:nvPr/>
        </p:nvSpPr>
        <p:spPr>
          <a:xfrm>
            <a:off x="6745528"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Rectangle 271"/>
          <p:cNvSpPr/>
          <p:nvPr/>
        </p:nvSpPr>
        <p:spPr>
          <a:xfrm>
            <a:off x="6873544"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3" name="Rectangle 272"/>
          <p:cNvSpPr/>
          <p:nvPr/>
        </p:nvSpPr>
        <p:spPr>
          <a:xfrm>
            <a:off x="7001560"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Rectangle 273"/>
          <p:cNvSpPr/>
          <p:nvPr/>
        </p:nvSpPr>
        <p:spPr>
          <a:xfrm>
            <a:off x="7129576"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Rectangle 274"/>
          <p:cNvSpPr/>
          <p:nvPr/>
        </p:nvSpPr>
        <p:spPr>
          <a:xfrm>
            <a:off x="7257592"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Rectangle 275"/>
          <p:cNvSpPr/>
          <p:nvPr/>
        </p:nvSpPr>
        <p:spPr>
          <a:xfrm>
            <a:off x="7385608"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7" name="Rectangle 276"/>
          <p:cNvSpPr/>
          <p:nvPr/>
        </p:nvSpPr>
        <p:spPr>
          <a:xfrm>
            <a:off x="6233464"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Rectangle 277"/>
          <p:cNvSpPr/>
          <p:nvPr/>
        </p:nvSpPr>
        <p:spPr>
          <a:xfrm>
            <a:off x="6361480"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9" name="Rectangle 278"/>
          <p:cNvSpPr/>
          <p:nvPr/>
        </p:nvSpPr>
        <p:spPr>
          <a:xfrm>
            <a:off x="6489496"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Rectangle 279"/>
          <p:cNvSpPr/>
          <p:nvPr/>
        </p:nvSpPr>
        <p:spPr>
          <a:xfrm>
            <a:off x="6617512"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1" name="Rectangle 280"/>
          <p:cNvSpPr/>
          <p:nvPr/>
        </p:nvSpPr>
        <p:spPr>
          <a:xfrm>
            <a:off x="6745528"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Rectangle 281"/>
          <p:cNvSpPr/>
          <p:nvPr/>
        </p:nvSpPr>
        <p:spPr>
          <a:xfrm>
            <a:off x="6873544"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3" name="Rectangle 282"/>
          <p:cNvSpPr/>
          <p:nvPr/>
        </p:nvSpPr>
        <p:spPr>
          <a:xfrm>
            <a:off x="7001560"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Rectangle 283"/>
          <p:cNvSpPr/>
          <p:nvPr/>
        </p:nvSpPr>
        <p:spPr>
          <a:xfrm>
            <a:off x="7129576"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5" name="Rectangle 284"/>
          <p:cNvSpPr/>
          <p:nvPr/>
        </p:nvSpPr>
        <p:spPr>
          <a:xfrm>
            <a:off x="7257592"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Rectangle 285"/>
          <p:cNvSpPr/>
          <p:nvPr/>
        </p:nvSpPr>
        <p:spPr>
          <a:xfrm>
            <a:off x="7385608"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7" name="Rectangle 286"/>
          <p:cNvSpPr/>
          <p:nvPr/>
        </p:nvSpPr>
        <p:spPr>
          <a:xfrm>
            <a:off x="6233464"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Rectangle 287"/>
          <p:cNvSpPr/>
          <p:nvPr/>
        </p:nvSpPr>
        <p:spPr>
          <a:xfrm>
            <a:off x="6361480"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9" name="Rectangle 288"/>
          <p:cNvSpPr/>
          <p:nvPr/>
        </p:nvSpPr>
        <p:spPr>
          <a:xfrm>
            <a:off x="6489496"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Rectangle 289"/>
          <p:cNvSpPr/>
          <p:nvPr/>
        </p:nvSpPr>
        <p:spPr>
          <a:xfrm>
            <a:off x="6617512"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1" name="Rectangle 290"/>
          <p:cNvSpPr/>
          <p:nvPr/>
        </p:nvSpPr>
        <p:spPr>
          <a:xfrm>
            <a:off x="6745528"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Rectangle 291"/>
          <p:cNvSpPr/>
          <p:nvPr/>
        </p:nvSpPr>
        <p:spPr>
          <a:xfrm>
            <a:off x="6873544"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3" name="Rectangle 292"/>
          <p:cNvSpPr/>
          <p:nvPr/>
        </p:nvSpPr>
        <p:spPr>
          <a:xfrm>
            <a:off x="7001560"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Rectangle 293"/>
          <p:cNvSpPr/>
          <p:nvPr/>
        </p:nvSpPr>
        <p:spPr>
          <a:xfrm>
            <a:off x="7129576"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5" name="Rectangle 294"/>
          <p:cNvSpPr/>
          <p:nvPr/>
        </p:nvSpPr>
        <p:spPr>
          <a:xfrm>
            <a:off x="7257592"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Rectangle 295"/>
          <p:cNvSpPr/>
          <p:nvPr/>
        </p:nvSpPr>
        <p:spPr>
          <a:xfrm>
            <a:off x="7385608"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Rectangle 296"/>
          <p:cNvSpPr/>
          <p:nvPr/>
        </p:nvSpPr>
        <p:spPr>
          <a:xfrm>
            <a:off x="6233464"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Rectangle 297"/>
          <p:cNvSpPr/>
          <p:nvPr/>
        </p:nvSpPr>
        <p:spPr>
          <a:xfrm>
            <a:off x="6361480"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Rectangle 298"/>
          <p:cNvSpPr/>
          <p:nvPr/>
        </p:nvSpPr>
        <p:spPr>
          <a:xfrm>
            <a:off x="6489496"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Rectangle 299"/>
          <p:cNvSpPr/>
          <p:nvPr/>
        </p:nvSpPr>
        <p:spPr>
          <a:xfrm>
            <a:off x="6617512"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Rectangle 300"/>
          <p:cNvSpPr/>
          <p:nvPr/>
        </p:nvSpPr>
        <p:spPr>
          <a:xfrm>
            <a:off x="6745528"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Rectangle 301"/>
          <p:cNvSpPr/>
          <p:nvPr/>
        </p:nvSpPr>
        <p:spPr>
          <a:xfrm>
            <a:off x="6873544"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3" name="Rectangle 302"/>
          <p:cNvSpPr/>
          <p:nvPr/>
        </p:nvSpPr>
        <p:spPr>
          <a:xfrm>
            <a:off x="7001560"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Rectangle 303"/>
          <p:cNvSpPr/>
          <p:nvPr/>
        </p:nvSpPr>
        <p:spPr>
          <a:xfrm>
            <a:off x="7129576"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5" name="Rectangle 304"/>
          <p:cNvSpPr/>
          <p:nvPr/>
        </p:nvSpPr>
        <p:spPr>
          <a:xfrm>
            <a:off x="7257592"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Rectangle 305"/>
          <p:cNvSpPr/>
          <p:nvPr/>
        </p:nvSpPr>
        <p:spPr>
          <a:xfrm>
            <a:off x="7385608"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Rectangle 306"/>
          <p:cNvSpPr/>
          <p:nvPr/>
        </p:nvSpPr>
        <p:spPr>
          <a:xfrm>
            <a:off x="6233464"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Rectangle 307"/>
          <p:cNvSpPr/>
          <p:nvPr/>
        </p:nvSpPr>
        <p:spPr>
          <a:xfrm>
            <a:off x="6361480"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Rectangle 308"/>
          <p:cNvSpPr/>
          <p:nvPr/>
        </p:nvSpPr>
        <p:spPr>
          <a:xfrm>
            <a:off x="6489496"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Rectangle 309"/>
          <p:cNvSpPr/>
          <p:nvPr/>
        </p:nvSpPr>
        <p:spPr>
          <a:xfrm>
            <a:off x="6617512"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Rectangle 310"/>
          <p:cNvSpPr/>
          <p:nvPr/>
        </p:nvSpPr>
        <p:spPr>
          <a:xfrm>
            <a:off x="6745528"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Rectangle 311"/>
          <p:cNvSpPr/>
          <p:nvPr/>
        </p:nvSpPr>
        <p:spPr>
          <a:xfrm>
            <a:off x="6873544"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Rectangle 312"/>
          <p:cNvSpPr/>
          <p:nvPr/>
        </p:nvSpPr>
        <p:spPr>
          <a:xfrm>
            <a:off x="7001560"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Rectangle 313"/>
          <p:cNvSpPr/>
          <p:nvPr/>
        </p:nvSpPr>
        <p:spPr>
          <a:xfrm>
            <a:off x="7129576"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5" name="Rectangle 314"/>
          <p:cNvSpPr/>
          <p:nvPr/>
        </p:nvSpPr>
        <p:spPr>
          <a:xfrm>
            <a:off x="7257592"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Rectangle 315"/>
          <p:cNvSpPr/>
          <p:nvPr/>
        </p:nvSpPr>
        <p:spPr>
          <a:xfrm>
            <a:off x="7385608"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7" name="Rectangle 316"/>
          <p:cNvSpPr/>
          <p:nvPr/>
        </p:nvSpPr>
        <p:spPr>
          <a:xfrm>
            <a:off x="6233464"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Rectangle 317"/>
          <p:cNvSpPr/>
          <p:nvPr/>
        </p:nvSpPr>
        <p:spPr>
          <a:xfrm>
            <a:off x="6361480"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9" name="Rectangle 318"/>
          <p:cNvSpPr/>
          <p:nvPr/>
        </p:nvSpPr>
        <p:spPr>
          <a:xfrm>
            <a:off x="6489496"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Rectangle 319"/>
          <p:cNvSpPr/>
          <p:nvPr/>
        </p:nvSpPr>
        <p:spPr>
          <a:xfrm>
            <a:off x="6617512"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Rectangle 320"/>
          <p:cNvSpPr/>
          <p:nvPr/>
        </p:nvSpPr>
        <p:spPr>
          <a:xfrm>
            <a:off x="6745528"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Rectangle 321"/>
          <p:cNvSpPr/>
          <p:nvPr/>
        </p:nvSpPr>
        <p:spPr>
          <a:xfrm>
            <a:off x="6873544"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Rectangle 322"/>
          <p:cNvSpPr/>
          <p:nvPr/>
        </p:nvSpPr>
        <p:spPr>
          <a:xfrm>
            <a:off x="7001560"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Rectangle 323"/>
          <p:cNvSpPr/>
          <p:nvPr/>
        </p:nvSpPr>
        <p:spPr>
          <a:xfrm>
            <a:off x="7129576"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Rectangle 324"/>
          <p:cNvSpPr/>
          <p:nvPr/>
        </p:nvSpPr>
        <p:spPr>
          <a:xfrm>
            <a:off x="7257592"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Rectangle 325"/>
          <p:cNvSpPr/>
          <p:nvPr/>
        </p:nvSpPr>
        <p:spPr>
          <a:xfrm>
            <a:off x="7385608"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Rectangle 326"/>
          <p:cNvSpPr/>
          <p:nvPr/>
        </p:nvSpPr>
        <p:spPr>
          <a:xfrm>
            <a:off x="6233464"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Rectangle 327"/>
          <p:cNvSpPr/>
          <p:nvPr/>
        </p:nvSpPr>
        <p:spPr>
          <a:xfrm>
            <a:off x="6361480"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9" name="Rectangle 328"/>
          <p:cNvSpPr/>
          <p:nvPr/>
        </p:nvSpPr>
        <p:spPr>
          <a:xfrm>
            <a:off x="6489496"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Rectangle 329"/>
          <p:cNvSpPr/>
          <p:nvPr/>
        </p:nvSpPr>
        <p:spPr>
          <a:xfrm>
            <a:off x="6617512"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1" name="Rectangle 330"/>
          <p:cNvSpPr/>
          <p:nvPr/>
        </p:nvSpPr>
        <p:spPr>
          <a:xfrm>
            <a:off x="6745528"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Rectangle 331"/>
          <p:cNvSpPr/>
          <p:nvPr/>
        </p:nvSpPr>
        <p:spPr>
          <a:xfrm>
            <a:off x="6873544"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3" name="Rectangle 332"/>
          <p:cNvSpPr/>
          <p:nvPr/>
        </p:nvSpPr>
        <p:spPr>
          <a:xfrm>
            <a:off x="7001560"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Rectangle 333"/>
          <p:cNvSpPr/>
          <p:nvPr/>
        </p:nvSpPr>
        <p:spPr>
          <a:xfrm>
            <a:off x="7129576"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5" name="Rectangle 334"/>
          <p:cNvSpPr/>
          <p:nvPr/>
        </p:nvSpPr>
        <p:spPr>
          <a:xfrm>
            <a:off x="7257592"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Rectangle 335"/>
          <p:cNvSpPr/>
          <p:nvPr/>
        </p:nvSpPr>
        <p:spPr>
          <a:xfrm>
            <a:off x="7385608"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7" name="Rectangle 336"/>
          <p:cNvSpPr/>
          <p:nvPr/>
        </p:nvSpPr>
        <p:spPr>
          <a:xfrm>
            <a:off x="6233464"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Rectangle 337"/>
          <p:cNvSpPr/>
          <p:nvPr/>
        </p:nvSpPr>
        <p:spPr>
          <a:xfrm>
            <a:off x="6361480"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9" name="Rectangle 338"/>
          <p:cNvSpPr/>
          <p:nvPr/>
        </p:nvSpPr>
        <p:spPr>
          <a:xfrm>
            <a:off x="6489496"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Rectangle 339"/>
          <p:cNvSpPr/>
          <p:nvPr/>
        </p:nvSpPr>
        <p:spPr>
          <a:xfrm>
            <a:off x="6617512"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1" name="Rectangle 340"/>
          <p:cNvSpPr/>
          <p:nvPr/>
        </p:nvSpPr>
        <p:spPr>
          <a:xfrm>
            <a:off x="6745528"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Rectangle 341"/>
          <p:cNvSpPr/>
          <p:nvPr/>
        </p:nvSpPr>
        <p:spPr>
          <a:xfrm>
            <a:off x="6873544"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Rectangle 342"/>
          <p:cNvSpPr/>
          <p:nvPr/>
        </p:nvSpPr>
        <p:spPr>
          <a:xfrm>
            <a:off x="7001560"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Rectangle 343"/>
          <p:cNvSpPr/>
          <p:nvPr/>
        </p:nvSpPr>
        <p:spPr>
          <a:xfrm>
            <a:off x="7129576"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Rectangle 344"/>
          <p:cNvSpPr/>
          <p:nvPr/>
        </p:nvSpPr>
        <p:spPr>
          <a:xfrm>
            <a:off x="7257592"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Rectangle 345"/>
          <p:cNvSpPr/>
          <p:nvPr/>
        </p:nvSpPr>
        <p:spPr>
          <a:xfrm>
            <a:off x="7385608"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Rectangle 346"/>
          <p:cNvSpPr/>
          <p:nvPr/>
        </p:nvSpPr>
        <p:spPr>
          <a:xfrm>
            <a:off x="6233464"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Rectangle 347"/>
          <p:cNvSpPr/>
          <p:nvPr/>
        </p:nvSpPr>
        <p:spPr>
          <a:xfrm>
            <a:off x="6361480"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Rectangle 348"/>
          <p:cNvSpPr/>
          <p:nvPr/>
        </p:nvSpPr>
        <p:spPr>
          <a:xfrm>
            <a:off x="6489496"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Rectangle 349"/>
          <p:cNvSpPr/>
          <p:nvPr/>
        </p:nvSpPr>
        <p:spPr>
          <a:xfrm>
            <a:off x="6617512"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Rectangle 350"/>
          <p:cNvSpPr/>
          <p:nvPr/>
        </p:nvSpPr>
        <p:spPr>
          <a:xfrm>
            <a:off x="6745528"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Rectangle 351"/>
          <p:cNvSpPr/>
          <p:nvPr/>
        </p:nvSpPr>
        <p:spPr>
          <a:xfrm>
            <a:off x="6873544"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Rectangle 352"/>
          <p:cNvSpPr/>
          <p:nvPr/>
        </p:nvSpPr>
        <p:spPr>
          <a:xfrm>
            <a:off x="7001560"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Rectangle 353"/>
          <p:cNvSpPr/>
          <p:nvPr/>
        </p:nvSpPr>
        <p:spPr>
          <a:xfrm>
            <a:off x="7129576"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Rectangle 354"/>
          <p:cNvSpPr/>
          <p:nvPr/>
        </p:nvSpPr>
        <p:spPr>
          <a:xfrm>
            <a:off x="7257592"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Rectangle 355"/>
          <p:cNvSpPr/>
          <p:nvPr/>
        </p:nvSpPr>
        <p:spPr>
          <a:xfrm>
            <a:off x="7385608"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Rectangle 356"/>
          <p:cNvSpPr/>
          <p:nvPr/>
        </p:nvSpPr>
        <p:spPr>
          <a:xfrm>
            <a:off x="6318504" y="3374136"/>
            <a:ext cx="109728" cy="109728"/>
          </a:xfrm>
          <a:prstGeom prst="rect">
            <a:avLst/>
          </a:prstGeom>
          <a:solidFill>
            <a:srgbClr val="18858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646480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hidden</a:t>
            </a:r>
          </a:p>
        </p:txBody>
      </p:sp>
      <p:sp>
        <p:nvSpPr>
          <p:cNvPr id="359" name="Rectangle 358"/>
          <p:cNvSpPr/>
          <p:nvPr/>
        </p:nvSpPr>
        <p:spPr>
          <a:xfrm>
            <a:off x="7141464" y="3374136"/>
            <a:ext cx="109728" cy="109728"/>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TextBox 359"/>
          <p:cNvSpPr txBox="1"/>
          <p:nvPr/>
        </p:nvSpPr>
        <p:spPr>
          <a:xfrm>
            <a:off x="728776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never hidden</a:t>
            </a:r>
          </a:p>
        </p:txBody>
      </p:sp>
      <p:sp>
        <p:nvSpPr>
          <p:cNvPr id="361" name="TextBox 360"/>
          <p:cNvSpPr txBox="1"/>
          <p:nvPr/>
        </p:nvSpPr>
        <p:spPr>
          <a:xfrm>
            <a:off x="6227064" y="3675888"/>
            <a:ext cx="1216152" cy="164592"/>
          </a:xfrm>
          <a:prstGeom prst="rect">
            <a:avLst/>
          </a:prstGeom>
          <a:noFill/>
        </p:spPr>
        <p:txBody>
          <a:bodyPr wrap="square" anchor="t">
            <a:spAutoFit/>
          </a:bodyPr>
          <a:lstStyle/>
          <a:p>
            <a:pPr algn="l">
              <a:lnSpc>
                <a:spcPct val="100000"/>
              </a:lnSpc>
            </a:pPr>
            <a:r>
              <a:rPr sz="800" b="0" i="0">
                <a:solidFill>
                  <a:srgbClr val="1F2A37"/>
                </a:solidFill>
                <a:latin typeface="Calibri"/>
              </a:rPr>
              <a:t>day 1-5 of 28</a:t>
            </a:r>
          </a:p>
        </p:txBody>
      </p:sp>
      <p:sp>
        <p:nvSpPr>
          <p:cNvPr id="362" name="Rectangle 361"/>
          <p:cNvSpPr/>
          <p:nvPr/>
        </p:nvSpPr>
        <p:spPr>
          <a:xfrm>
            <a:off x="6227064"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Rectangle 362"/>
          <p:cNvSpPr/>
          <p:nvPr/>
        </p:nvSpPr>
        <p:spPr>
          <a:xfrm>
            <a:off x="6266471"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Rectangle 363"/>
          <p:cNvSpPr/>
          <p:nvPr/>
        </p:nvSpPr>
        <p:spPr>
          <a:xfrm>
            <a:off x="6305878"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Rectangle 364"/>
          <p:cNvSpPr/>
          <p:nvPr/>
        </p:nvSpPr>
        <p:spPr>
          <a:xfrm>
            <a:off x="6345285"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Rectangle 365"/>
          <p:cNvSpPr/>
          <p:nvPr/>
        </p:nvSpPr>
        <p:spPr>
          <a:xfrm>
            <a:off x="6384692"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Rectangle 366"/>
          <p:cNvSpPr/>
          <p:nvPr/>
        </p:nvSpPr>
        <p:spPr>
          <a:xfrm>
            <a:off x="6424099"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Rectangle 367"/>
          <p:cNvSpPr/>
          <p:nvPr/>
        </p:nvSpPr>
        <p:spPr>
          <a:xfrm>
            <a:off x="6463506"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Rectangle 368"/>
          <p:cNvSpPr/>
          <p:nvPr/>
        </p:nvSpPr>
        <p:spPr>
          <a:xfrm>
            <a:off x="6502913"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Rectangle 369"/>
          <p:cNvSpPr/>
          <p:nvPr/>
        </p:nvSpPr>
        <p:spPr>
          <a:xfrm>
            <a:off x="6542320"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Rectangle 370"/>
          <p:cNvSpPr/>
          <p:nvPr/>
        </p:nvSpPr>
        <p:spPr>
          <a:xfrm>
            <a:off x="6581727"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Rectangle 371"/>
          <p:cNvSpPr/>
          <p:nvPr/>
        </p:nvSpPr>
        <p:spPr>
          <a:xfrm>
            <a:off x="6621134"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Rectangle 372"/>
          <p:cNvSpPr/>
          <p:nvPr/>
        </p:nvSpPr>
        <p:spPr>
          <a:xfrm>
            <a:off x="6660541"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Rectangle 373"/>
          <p:cNvSpPr/>
          <p:nvPr/>
        </p:nvSpPr>
        <p:spPr>
          <a:xfrm>
            <a:off x="6699948"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Rectangle 374"/>
          <p:cNvSpPr/>
          <p:nvPr/>
        </p:nvSpPr>
        <p:spPr>
          <a:xfrm>
            <a:off x="6739355"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Rectangle 375"/>
          <p:cNvSpPr/>
          <p:nvPr/>
        </p:nvSpPr>
        <p:spPr>
          <a:xfrm>
            <a:off x="6778762"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Rectangle 376"/>
          <p:cNvSpPr/>
          <p:nvPr/>
        </p:nvSpPr>
        <p:spPr>
          <a:xfrm>
            <a:off x="6818169"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Rectangle 377"/>
          <p:cNvSpPr/>
          <p:nvPr/>
        </p:nvSpPr>
        <p:spPr>
          <a:xfrm>
            <a:off x="6857576"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Rectangle 378"/>
          <p:cNvSpPr/>
          <p:nvPr/>
        </p:nvSpPr>
        <p:spPr>
          <a:xfrm>
            <a:off x="6896983"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Rectangle 379"/>
          <p:cNvSpPr/>
          <p:nvPr/>
        </p:nvSpPr>
        <p:spPr>
          <a:xfrm>
            <a:off x="6936390"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Rectangle 380"/>
          <p:cNvSpPr/>
          <p:nvPr/>
        </p:nvSpPr>
        <p:spPr>
          <a:xfrm>
            <a:off x="6975797"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Rectangle 381"/>
          <p:cNvSpPr/>
          <p:nvPr/>
        </p:nvSpPr>
        <p:spPr>
          <a:xfrm>
            <a:off x="7015204"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Rectangle 382"/>
          <p:cNvSpPr/>
          <p:nvPr/>
        </p:nvSpPr>
        <p:spPr>
          <a:xfrm>
            <a:off x="7054611"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Rectangle 383"/>
          <p:cNvSpPr/>
          <p:nvPr/>
        </p:nvSpPr>
        <p:spPr>
          <a:xfrm>
            <a:off x="7094018"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Rectangle 384"/>
          <p:cNvSpPr/>
          <p:nvPr/>
        </p:nvSpPr>
        <p:spPr>
          <a:xfrm>
            <a:off x="7133425"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Rectangle 385"/>
          <p:cNvSpPr/>
          <p:nvPr/>
        </p:nvSpPr>
        <p:spPr>
          <a:xfrm>
            <a:off x="7172832"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Rectangle 386"/>
          <p:cNvSpPr/>
          <p:nvPr/>
        </p:nvSpPr>
        <p:spPr>
          <a:xfrm>
            <a:off x="7212239"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Rectangle 387"/>
          <p:cNvSpPr/>
          <p:nvPr/>
        </p:nvSpPr>
        <p:spPr>
          <a:xfrm>
            <a:off x="7251646"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9" name="Rectangle 388"/>
          <p:cNvSpPr/>
          <p:nvPr/>
        </p:nvSpPr>
        <p:spPr>
          <a:xfrm>
            <a:off x="7291053"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Rectangle 389"/>
          <p:cNvSpPr/>
          <p:nvPr/>
        </p:nvSpPr>
        <p:spPr>
          <a:xfrm>
            <a:off x="7330460" y="3877056"/>
            <a:ext cx="33915"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Rectangle 390"/>
          <p:cNvSpPr/>
          <p:nvPr/>
        </p:nvSpPr>
        <p:spPr>
          <a:xfrm>
            <a:off x="7369867" y="3877056"/>
            <a:ext cx="33915"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Rectangle 391"/>
          <p:cNvSpPr/>
          <p:nvPr/>
        </p:nvSpPr>
        <p:spPr>
          <a:xfrm>
            <a:off x="7409274" y="3877056"/>
            <a:ext cx="33915"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3" name="TextBox 392"/>
          <p:cNvSpPr txBox="1"/>
          <p:nvPr/>
        </p:nvSpPr>
        <p:spPr>
          <a:xfrm>
            <a:off x="6227064" y="4078224"/>
            <a:ext cx="1216152" cy="292608"/>
          </a:xfrm>
          <a:prstGeom prst="rect">
            <a:avLst/>
          </a:prstGeom>
          <a:noFill/>
        </p:spPr>
        <p:txBody>
          <a:bodyPr wrap="square" anchor="t">
            <a:spAutoFit/>
          </a:bodyPr>
          <a:lstStyle/>
          <a:p>
            <a:pPr algn="l">
              <a:lnSpc>
                <a:spcPct val="108000"/>
              </a:lnSpc>
            </a:pPr>
            <a:r>
              <a:rPr sz="750" b="0" i="1">
                <a:solidFill>
                  <a:srgbClr val="5B6B7A"/>
                </a:solidFill>
                <a:latin typeface="Calibri"/>
              </a:rPr>
              <a:t>starts on the first valid day</a:t>
            </a:r>
          </a:p>
        </p:txBody>
      </p:sp>
      <p:sp>
        <p:nvSpPr>
          <p:cNvPr id="394" name="TextBox 393"/>
          <p:cNvSpPr txBox="1"/>
          <p:nvPr/>
        </p:nvSpPr>
        <p:spPr>
          <a:xfrm>
            <a:off x="7562088" y="3675888"/>
            <a:ext cx="1216152" cy="164592"/>
          </a:xfrm>
          <a:prstGeom prst="rect">
            <a:avLst/>
          </a:prstGeom>
          <a:noFill/>
        </p:spPr>
        <p:txBody>
          <a:bodyPr wrap="square" anchor="t">
            <a:spAutoFit/>
          </a:bodyPr>
          <a:lstStyle/>
          <a:p>
            <a:pPr algn="l">
              <a:lnSpc>
                <a:spcPct val="100000"/>
              </a:lnSpc>
            </a:pPr>
            <a:r>
              <a:rPr sz="800" b="0" i="0">
                <a:solidFill>
                  <a:srgbClr val="1F2A37"/>
                </a:solidFill>
                <a:latin typeface="Calibri"/>
              </a:rPr>
              <a:t>day 22-28 of 28</a:t>
            </a:r>
          </a:p>
        </p:txBody>
      </p:sp>
      <p:sp>
        <p:nvSpPr>
          <p:cNvPr id="395" name="Rectangle 394"/>
          <p:cNvSpPr/>
          <p:nvPr/>
        </p:nvSpPr>
        <p:spPr>
          <a:xfrm>
            <a:off x="7562088"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Rectangle 395"/>
          <p:cNvSpPr/>
          <p:nvPr/>
        </p:nvSpPr>
        <p:spPr>
          <a:xfrm>
            <a:off x="7601495"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Rectangle 396"/>
          <p:cNvSpPr/>
          <p:nvPr/>
        </p:nvSpPr>
        <p:spPr>
          <a:xfrm>
            <a:off x="7640902"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Rectangle 397"/>
          <p:cNvSpPr/>
          <p:nvPr/>
        </p:nvSpPr>
        <p:spPr>
          <a:xfrm>
            <a:off x="7680309"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Rectangle 398"/>
          <p:cNvSpPr/>
          <p:nvPr/>
        </p:nvSpPr>
        <p:spPr>
          <a:xfrm>
            <a:off x="7719716"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Rectangle 399"/>
          <p:cNvSpPr/>
          <p:nvPr/>
        </p:nvSpPr>
        <p:spPr>
          <a:xfrm>
            <a:off x="7759123"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Rectangle 400"/>
          <p:cNvSpPr/>
          <p:nvPr/>
        </p:nvSpPr>
        <p:spPr>
          <a:xfrm>
            <a:off x="7798530"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Rectangle 401"/>
          <p:cNvSpPr/>
          <p:nvPr/>
        </p:nvSpPr>
        <p:spPr>
          <a:xfrm>
            <a:off x="7837937"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Rectangle 402"/>
          <p:cNvSpPr/>
          <p:nvPr/>
        </p:nvSpPr>
        <p:spPr>
          <a:xfrm>
            <a:off x="7877344"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Rectangle 403"/>
          <p:cNvSpPr/>
          <p:nvPr/>
        </p:nvSpPr>
        <p:spPr>
          <a:xfrm>
            <a:off x="7916751"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Rectangle 404"/>
          <p:cNvSpPr/>
          <p:nvPr/>
        </p:nvSpPr>
        <p:spPr>
          <a:xfrm>
            <a:off x="7956158"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Rectangle 405"/>
          <p:cNvSpPr/>
          <p:nvPr/>
        </p:nvSpPr>
        <p:spPr>
          <a:xfrm>
            <a:off x="7995565"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Rectangle 406"/>
          <p:cNvSpPr/>
          <p:nvPr/>
        </p:nvSpPr>
        <p:spPr>
          <a:xfrm>
            <a:off x="8034972"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Rectangle 407"/>
          <p:cNvSpPr/>
          <p:nvPr/>
        </p:nvSpPr>
        <p:spPr>
          <a:xfrm>
            <a:off x="8074379"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Rectangle 408"/>
          <p:cNvSpPr/>
          <p:nvPr/>
        </p:nvSpPr>
        <p:spPr>
          <a:xfrm>
            <a:off x="8113786"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0" name="Rectangle 409"/>
          <p:cNvSpPr/>
          <p:nvPr/>
        </p:nvSpPr>
        <p:spPr>
          <a:xfrm>
            <a:off x="8153193"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1" name="Rectangle 410"/>
          <p:cNvSpPr/>
          <p:nvPr/>
        </p:nvSpPr>
        <p:spPr>
          <a:xfrm>
            <a:off x="8192600"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2" name="Rectangle 411"/>
          <p:cNvSpPr/>
          <p:nvPr/>
        </p:nvSpPr>
        <p:spPr>
          <a:xfrm>
            <a:off x="8232007"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3" name="Rectangle 412"/>
          <p:cNvSpPr/>
          <p:nvPr/>
        </p:nvSpPr>
        <p:spPr>
          <a:xfrm>
            <a:off x="8271414"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4" name="Rectangle 413"/>
          <p:cNvSpPr/>
          <p:nvPr/>
        </p:nvSpPr>
        <p:spPr>
          <a:xfrm>
            <a:off x="8310821"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5" name="Rectangle 414"/>
          <p:cNvSpPr/>
          <p:nvPr/>
        </p:nvSpPr>
        <p:spPr>
          <a:xfrm>
            <a:off x="8350228" y="3877056"/>
            <a:ext cx="33915" cy="146304"/>
          </a:xfrm>
          <a:prstGeom prst="rect">
            <a:avLst/>
          </a:prstGeom>
          <a:solidFill>
            <a:srgbClr val="ECF1F4"/>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6" name="Rectangle 415"/>
          <p:cNvSpPr/>
          <p:nvPr/>
        </p:nvSpPr>
        <p:spPr>
          <a:xfrm>
            <a:off x="8389635"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7" name="Rectangle 416"/>
          <p:cNvSpPr/>
          <p:nvPr/>
        </p:nvSpPr>
        <p:spPr>
          <a:xfrm>
            <a:off x="8429042"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8" name="Rectangle 417"/>
          <p:cNvSpPr/>
          <p:nvPr/>
        </p:nvSpPr>
        <p:spPr>
          <a:xfrm>
            <a:off x="8468449"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9" name="Rectangle 418"/>
          <p:cNvSpPr/>
          <p:nvPr/>
        </p:nvSpPr>
        <p:spPr>
          <a:xfrm>
            <a:off x="8507856"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0" name="Rectangle 419"/>
          <p:cNvSpPr/>
          <p:nvPr/>
        </p:nvSpPr>
        <p:spPr>
          <a:xfrm>
            <a:off x="8547263"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1" name="Rectangle 420"/>
          <p:cNvSpPr/>
          <p:nvPr/>
        </p:nvSpPr>
        <p:spPr>
          <a:xfrm>
            <a:off x="8586670"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2" name="Rectangle 421"/>
          <p:cNvSpPr/>
          <p:nvPr/>
        </p:nvSpPr>
        <p:spPr>
          <a:xfrm>
            <a:off x="8626077" y="3877056"/>
            <a:ext cx="33915" cy="146304"/>
          </a:xfrm>
          <a:prstGeom prst="rect">
            <a:avLst/>
          </a:prstGeom>
          <a:solidFill>
            <a:srgbClr val="18858A"/>
          </a:solidFill>
          <a:ln w="635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3" name="Rectangle 422"/>
          <p:cNvSpPr/>
          <p:nvPr/>
        </p:nvSpPr>
        <p:spPr>
          <a:xfrm>
            <a:off x="8665484" y="3877056"/>
            <a:ext cx="33915"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4" name="Rectangle 423"/>
          <p:cNvSpPr/>
          <p:nvPr/>
        </p:nvSpPr>
        <p:spPr>
          <a:xfrm>
            <a:off x="8704891" y="3877056"/>
            <a:ext cx="33915"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5" name="Rectangle 424"/>
          <p:cNvSpPr/>
          <p:nvPr/>
        </p:nvSpPr>
        <p:spPr>
          <a:xfrm>
            <a:off x="8744298" y="3877056"/>
            <a:ext cx="33915" cy="146304"/>
          </a:xfrm>
          <a:prstGeom prst="rect">
            <a:avLst/>
          </a:prstGeom>
          <a:solidFill>
            <a:srgbClr val="F7F9FA"/>
          </a:solidFill>
          <a:ln w="635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6" name="TextBox 425"/>
          <p:cNvSpPr txBox="1"/>
          <p:nvPr/>
        </p:nvSpPr>
        <p:spPr>
          <a:xfrm>
            <a:off x="7562088" y="4078224"/>
            <a:ext cx="1216152" cy="292608"/>
          </a:xfrm>
          <a:prstGeom prst="rect">
            <a:avLst/>
          </a:prstGeom>
          <a:noFill/>
        </p:spPr>
        <p:txBody>
          <a:bodyPr wrap="square" anchor="t">
            <a:spAutoFit/>
          </a:bodyPr>
          <a:lstStyle/>
          <a:p>
            <a:pPr algn="l">
              <a:lnSpc>
                <a:spcPct val="108000"/>
              </a:lnSpc>
            </a:pPr>
            <a:r>
              <a:rPr sz="750" b="0" i="1">
                <a:solidFill>
                  <a:srgbClr val="5B6B7A"/>
                </a:solidFill>
                <a:latin typeface="Calibri"/>
              </a:rPr>
              <a:t>ends on the last valid day</a:t>
            </a:r>
          </a:p>
        </p:txBody>
      </p:sp>
      <p:sp>
        <p:nvSpPr>
          <p:cNvPr id="427" name="Rounded Rectangle 426"/>
          <p:cNvSpPr/>
          <p:nvPr/>
        </p:nvSpPr>
        <p:spPr>
          <a:xfrm>
            <a:off x="9011412" y="1060704"/>
            <a:ext cx="2788920" cy="3840480"/>
          </a:xfrm>
          <a:prstGeom prst="roundRect">
            <a:avLst>
              <a:gd name="adj" fmla="val 35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8" name="TextBox 427"/>
          <p:cNvSpPr txBox="1"/>
          <p:nvPr/>
        </p:nvSpPr>
        <p:spPr>
          <a:xfrm>
            <a:off x="9130284" y="1170432"/>
            <a:ext cx="2551176" cy="237744"/>
          </a:xfrm>
          <a:prstGeom prst="rect">
            <a:avLst/>
          </a:prstGeom>
          <a:noFill/>
        </p:spPr>
        <p:txBody>
          <a:bodyPr wrap="square" anchor="t">
            <a:spAutoFit/>
          </a:bodyPr>
          <a:lstStyle/>
          <a:p>
            <a:pPr algn="l">
              <a:lnSpc>
                <a:spcPct val="100000"/>
              </a:lnSpc>
            </a:pPr>
            <a:r>
              <a:rPr sz="1400" b="1" i="0">
                <a:solidFill>
                  <a:srgbClr val="1F2A37"/>
                </a:solidFill>
                <a:latin typeface="Calibri"/>
              </a:rPr>
              <a:t>Mixed</a:t>
            </a:r>
          </a:p>
        </p:txBody>
      </p:sp>
      <p:sp>
        <p:nvSpPr>
          <p:cNvPr id="429" name="TextBox 428"/>
          <p:cNvSpPr txBox="1"/>
          <p:nvPr/>
        </p:nvSpPr>
        <p:spPr>
          <a:xfrm>
            <a:off x="9130284" y="1444752"/>
            <a:ext cx="2551176" cy="420624"/>
          </a:xfrm>
          <a:prstGeom prst="rect">
            <a:avLst/>
          </a:prstGeom>
          <a:noFill/>
        </p:spPr>
        <p:txBody>
          <a:bodyPr wrap="square" anchor="t">
            <a:spAutoFit/>
          </a:bodyPr>
          <a:lstStyle/>
          <a:p>
            <a:pPr algn="l">
              <a:lnSpc>
                <a:spcPct val="106000"/>
              </a:lnSpc>
            </a:pPr>
            <a:r>
              <a:rPr sz="950" b="0" i="0">
                <a:solidFill>
                  <a:srgbClr val="5B6B7A"/>
                </a:solidFill>
                <a:latin typeface="Calibri"/>
              </a:rPr>
              <a:t>Temporal gap plus, with probability</a:t>
            </a:r>
          </a:p>
          <a:p>
            <a:pPr algn="l">
              <a:lnSpc>
                <a:spcPct val="106000"/>
              </a:lnSpc>
            </a:pPr>
            <a:r>
              <a:rPr sz="950" b="0" i="0">
                <a:solidFill>
                  <a:srgbClr val="5B6B7A"/>
                </a:solidFill>
                <a:latin typeface="Calibri"/>
              </a:rPr>
              <a:t>0.35, a spatial rectangle.</a:t>
            </a:r>
          </a:p>
        </p:txBody>
      </p:sp>
      <p:sp>
        <p:nvSpPr>
          <p:cNvPr id="430" name="Rectangle 429"/>
          <p:cNvSpPr/>
          <p:nvPr/>
        </p:nvSpPr>
        <p:spPr>
          <a:xfrm>
            <a:off x="9136684"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1" name="Rectangle 430"/>
          <p:cNvSpPr/>
          <p:nvPr/>
        </p:nvSpPr>
        <p:spPr>
          <a:xfrm>
            <a:off x="9264700"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2" name="Rectangle 431"/>
          <p:cNvSpPr/>
          <p:nvPr/>
        </p:nvSpPr>
        <p:spPr>
          <a:xfrm>
            <a:off x="9392716"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3" name="Rectangle 432"/>
          <p:cNvSpPr/>
          <p:nvPr/>
        </p:nvSpPr>
        <p:spPr>
          <a:xfrm>
            <a:off x="9520732"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4" name="Rectangle 433"/>
          <p:cNvSpPr/>
          <p:nvPr/>
        </p:nvSpPr>
        <p:spPr>
          <a:xfrm>
            <a:off x="9648748"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5" name="Rectangle 434"/>
          <p:cNvSpPr/>
          <p:nvPr/>
        </p:nvSpPr>
        <p:spPr>
          <a:xfrm>
            <a:off x="9776764"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6" name="Rectangle 435"/>
          <p:cNvSpPr/>
          <p:nvPr/>
        </p:nvSpPr>
        <p:spPr>
          <a:xfrm>
            <a:off x="9904780"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7" name="Rectangle 436"/>
          <p:cNvSpPr/>
          <p:nvPr/>
        </p:nvSpPr>
        <p:spPr>
          <a:xfrm>
            <a:off x="10032796"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8" name="Rectangle 437"/>
          <p:cNvSpPr/>
          <p:nvPr/>
        </p:nvSpPr>
        <p:spPr>
          <a:xfrm>
            <a:off x="10160812"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9" name="Rectangle 438"/>
          <p:cNvSpPr/>
          <p:nvPr/>
        </p:nvSpPr>
        <p:spPr>
          <a:xfrm>
            <a:off x="10288828" y="199979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0" name="Rectangle 439"/>
          <p:cNvSpPr/>
          <p:nvPr/>
        </p:nvSpPr>
        <p:spPr>
          <a:xfrm>
            <a:off x="9136684"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1" name="Rectangle 440"/>
          <p:cNvSpPr/>
          <p:nvPr/>
        </p:nvSpPr>
        <p:spPr>
          <a:xfrm>
            <a:off x="9264700"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2" name="Rectangle 441"/>
          <p:cNvSpPr/>
          <p:nvPr/>
        </p:nvSpPr>
        <p:spPr>
          <a:xfrm>
            <a:off x="9392716"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3" name="Rectangle 442"/>
          <p:cNvSpPr/>
          <p:nvPr/>
        </p:nvSpPr>
        <p:spPr>
          <a:xfrm>
            <a:off x="9520732"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4" name="Rectangle 443"/>
          <p:cNvSpPr/>
          <p:nvPr/>
        </p:nvSpPr>
        <p:spPr>
          <a:xfrm>
            <a:off x="9648748"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5" name="Rectangle 444"/>
          <p:cNvSpPr/>
          <p:nvPr/>
        </p:nvSpPr>
        <p:spPr>
          <a:xfrm>
            <a:off x="9776764"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6" name="Rectangle 445"/>
          <p:cNvSpPr/>
          <p:nvPr/>
        </p:nvSpPr>
        <p:spPr>
          <a:xfrm>
            <a:off x="9904780"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7" name="Rectangle 446"/>
          <p:cNvSpPr/>
          <p:nvPr/>
        </p:nvSpPr>
        <p:spPr>
          <a:xfrm>
            <a:off x="10032796"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8" name="Rectangle 447"/>
          <p:cNvSpPr/>
          <p:nvPr/>
        </p:nvSpPr>
        <p:spPr>
          <a:xfrm>
            <a:off x="10160812"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9" name="Rectangle 448"/>
          <p:cNvSpPr/>
          <p:nvPr/>
        </p:nvSpPr>
        <p:spPr>
          <a:xfrm>
            <a:off x="10288828" y="212780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0" name="Rectangle 449"/>
          <p:cNvSpPr/>
          <p:nvPr/>
        </p:nvSpPr>
        <p:spPr>
          <a:xfrm>
            <a:off x="9136684"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1" name="Rectangle 450"/>
          <p:cNvSpPr/>
          <p:nvPr/>
        </p:nvSpPr>
        <p:spPr>
          <a:xfrm>
            <a:off x="9264700"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2" name="Rectangle 451"/>
          <p:cNvSpPr/>
          <p:nvPr/>
        </p:nvSpPr>
        <p:spPr>
          <a:xfrm>
            <a:off x="9392716"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3" name="Rectangle 452"/>
          <p:cNvSpPr/>
          <p:nvPr/>
        </p:nvSpPr>
        <p:spPr>
          <a:xfrm>
            <a:off x="9520732"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4" name="Rectangle 453"/>
          <p:cNvSpPr/>
          <p:nvPr/>
        </p:nvSpPr>
        <p:spPr>
          <a:xfrm>
            <a:off x="9648748"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5" name="Rectangle 454"/>
          <p:cNvSpPr/>
          <p:nvPr/>
        </p:nvSpPr>
        <p:spPr>
          <a:xfrm>
            <a:off x="9776764"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6" name="Rectangle 455"/>
          <p:cNvSpPr/>
          <p:nvPr/>
        </p:nvSpPr>
        <p:spPr>
          <a:xfrm>
            <a:off x="9904780"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7" name="Rectangle 456"/>
          <p:cNvSpPr/>
          <p:nvPr/>
        </p:nvSpPr>
        <p:spPr>
          <a:xfrm>
            <a:off x="10032796"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8" name="Rectangle 457"/>
          <p:cNvSpPr/>
          <p:nvPr/>
        </p:nvSpPr>
        <p:spPr>
          <a:xfrm>
            <a:off x="10160812"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9" name="Rectangle 458"/>
          <p:cNvSpPr/>
          <p:nvPr/>
        </p:nvSpPr>
        <p:spPr>
          <a:xfrm>
            <a:off x="10288828" y="225582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0" name="Rectangle 459"/>
          <p:cNvSpPr/>
          <p:nvPr/>
        </p:nvSpPr>
        <p:spPr>
          <a:xfrm>
            <a:off x="9136684"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1" name="Rectangle 460"/>
          <p:cNvSpPr/>
          <p:nvPr/>
        </p:nvSpPr>
        <p:spPr>
          <a:xfrm>
            <a:off x="9264700"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2" name="Rectangle 461"/>
          <p:cNvSpPr/>
          <p:nvPr/>
        </p:nvSpPr>
        <p:spPr>
          <a:xfrm>
            <a:off x="9392716"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3" name="Rectangle 462"/>
          <p:cNvSpPr/>
          <p:nvPr/>
        </p:nvSpPr>
        <p:spPr>
          <a:xfrm>
            <a:off x="9520732"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4" name="Rectangle 463"/>
          <p:cNvSpPr/>
          <p:nvPr/>
        </p:nvSpPr>
        <p:spPr>
          <a:xfrm>
            <a:off x="9648748"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Rectangle 464"/>
          <p:cNvSpPr/>
          <p:nvPr/>
        </p:nvSpPr>
        <p:spPr>
          <a:xfrm>
            <a:off x="9776764"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6" name="Rectangle 465"/>
          <p:cNvSpPr/>
          <p:nvPr/>
        </p:nvSpPr>
        <p:spPr>
          <a:xfrm>
            <a:off x="9904780"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7" name="Rectangle 466"/>
          <p:cNvSpPr/>
          <p:nvPr/>
        </p:nvSpPr>
        <p:spPr>
          <a:xfrm>
            <a:off x="10032796"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8" name="Rectangle 467"/>
          <p:cNvSpPr/>
          <p:nvPr/>
        </p:nvSpPr>
        <p:spPr>
          <a:xfrm>
            <a:off x="10160812"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9" name="Rectangle 468"/>
          <p:cNvSpPr/>
          <p:nvPr/>
        </p:nvSpPr>
        <p:spPr>
          <a:xfrm>
            <a:off x="10288828" y="238384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0" name="Rectangle 469"/>
          <p:cNvSpPr/>
          <p:nvPr/>
        </p:nvSpPr>
        <p:spPr>
          <a:xfrm>
            <a:off x="9136684"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1" name="Rectangle 470"/>
          <p:cNvSpPr/>
          <p:nvPr/>
        </p:nvSpPr>
        <p:spPr>
          <a:xfrm>
            <a:off x="9264700"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2" name="Rectangle 471"/>
          <p:cNvSpPr/>
          <p:nvPr/>
        </p:nvSpPr>
        <p:spPr>
          <a:xfrm>
            <a:off x="9392716"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3" name="Rectangle 472"/>
          <p:cNvSpPr/>
          <p:nvPr/>
        </p:nvSpPr>
        <p:spPr>
          <a:xfrm>
            <a:off x="9520732"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4" name="Rectangle 473"/>
          <p:cNvSpPr/>
          <p:nvPr/>
        </p:nvSpPr>
        <p:spPr>
          <a:xfrm>
            <a:off x="9648748"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5" name="Rectangle 474"/>
          <p:cNvSpPr/>
          <p:nvPr/>
        </p:nvSpPr>
        <p:spPr>
          <a:xfrm>
            <a:off x="9776764"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6" name="Rectangle 475"/>
          <p:cNvSpPr/>
          <p:nvPr/>
        </p:nvSpPr>
        <p:spPr>
          <a:xfrm>
            <a:off x="9904780"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Rectangle 476"/>
          <p:cNvSpPr/>
          <p:nvPr/>
        </p:nvSpPr>
        <p:spPr>
          <a:xfrm>
            <a:off x="10032796"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8" name="Rectangle 477"/>
          <p:cNvSpPr/>
          <p:nvPr/>
        </p:nvSpPr>
        <p:spPr>
          <a:xfrm>
            <a:off x="10160812"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9" name="Rectangle 478"/>
          <p:cNvSpPr/>
          <p:nvPr/>
        </p:nvSpPr>
        <p:spPr>
          <a:xfrm>
            <a:off x="10288828" y="251185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0" name="Rectangle 479"/>
          <p:cNvSpPr/>
          <p:nvPr/>
        </p:nvSpPr>
        <p:spPr>
          <a:xfrm>
            <a:off x="9136684"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1" name="Rectangle 480"/>
          <p:cNvSpPr/>
          <p:nvPr/>
        </p:nvSpPr>
        <p:spPr>
          <a:xfrm>
            <a:off x="9264700"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2" name="Rectangle 481"/>
          <p:cNvSpPr/>
          <p:nvPr/>
        </p:nvSpPr>
        <p:spPr>
          <a:xfrm>
            <a:off x="9392716"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3" name="Rectangle 482"/>
          <p:cNvSpPr/>
          <p:nvPr/>
        </p:nvSpPr>
        <p:spPr>
          <a:xfrm>
            <a:off x="9520732"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4" name="Rectangle 483"/>
          <p:cNvSpPr/>
          <p:nvPr/>
        </p:nvSpPr>
        <p:spPr>
          <a:xfrm>
            <a:off x="9648748"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5" name="Rectangle 484"/>
          <p:cNvSpPr/>
          <p:nvPr/>
        </p:nvSpPr>
        <p:spPr>
          <a:xfrm>
            <a:off x="9776764"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6" name="Rectangle 485"/>
          <p:cNvSpPr/>
          <p:nvPr/>
        </p:nvSpPr>
        <p:spPr>
          <a:xfrm>
            <a:off x="9904780"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7" name="Rectangle 486"/>
          <p:cNvSpPr/>
          <p:nvPr/>
        </p:nvSpPr>
        <p:spPr>
          <a:xfrm>
            <a:off x="10032796"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8" name="Rectangle 487"/>
          <p:cNvSpPr/>
          <p:nvPr/>
        </p:nvSpPr>
        <p:spPr>
          <a:xfrm>
            <a:off x="10160812"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9" name="Rectangle 488"/>
          <p:cNvSpPr/>
          <p:nvPr/>
        </p:nvSpPr>
        <p:spPr>
          <a:xfrm>
            <a:off x="10288828" y="2639872"/>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0" name="Rectangle 489"/>
          <p:cNvSpPr/>
          <p:nvPr/>
        </p:nvSpPr>
        <p:spPr>
          <a:xfrm>
            <a:off x="9136684"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1" name="Rectangle 490"/>
          <p:cNvSpPr/>
          <p:nvPr/>
        </p:nvSpPr>
        <p:spPr>
          <a:xfrm>
            <a:off x="9264700"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2" name="Rectangle 491"/>
          <p:cNvSpPr/>
          <p:nvPr/>
        </p:nvSpPr>
        <p:spPr>
          <a:xfrm>
            <a:off x="9392716"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3" name="Rectangle 492"/>
          <p:cNvSpPr/>
          <p:nvPr/>
        </p:nvSpPr>
        <p:spPr>
          <a:xfrm>
            <a:off x="9520732"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4" name="Rectangle 493"/>
          <p:cNvSpPr/>
          <p:nvPr/>
        </p:nvSpPr>
        <p:spPr>
          <a:xfrm>
            <a:off x="9648748"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5" name="Rectangle 494"/>
          <p:cNvSpPr/>
          <p:nvPr/>
        </p:nvSpPr>
        <p:spPr>
          <a:xfrm>
            <a:off x="9776764"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6" name="Rectangle 495"/>
          <p:cNvSpPr/>
          <p:nvPr/>
        </p:nvSpPr>
        <p:spPr>
          <a:xfrm>
            <a:off x="9904780"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7" name="Rectangle 496"/>
          <p:cNvSpPr/>
          <p:nvPr/>
        </p:nvSpPr>
        <p:spPr>
          <a:xfrm>
            <a:off x="10032796"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8" name="Rectangle 497"/>
          <p:cNvSpPr/>
          <p:nvPr/>
        </p:nvSpPr>
        <p:spPr>
          <a:xfrm>
            <a:off x="10160812"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9" name="Rectangle 498"/>
          <p:cNvSpPr/>
          <p:nvPr/>
        </p:nvSpPr>
        <p:spPr>
          <a:xfrm>
            <a:off x="10288828" y="2767888"/>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0" name="Rectangle 499"/>
          <p:cNvSpPr/>
          <p:nvPr/>
        </p:nvSpPr>
        <p:spPr>
          <a:xfrm>
            <a:off x="9136684"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1" name="Rectangle 500"/>
          <p:cNvSpPr/>
          <p:nvPr/>
        </p:nvSpPr>
        <p:spPr>
          <a:xfrm>
            <a:off x="9264700"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2" name="Rectangle 501"/>
          <p:cNvSpPr/>
          <p:nvPr/>
        </p:nvSpPr>
        <p:spPr>
          <a:xfrm>
            <a:off x="9392716"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3" name="Rectangle 502"/>
          <p:cNvSpPr/>
          <p:nvPr/>
        </p:nvSpPr>
        <p:spPr>
          <a:xfrm>
            <a:off x="9520732"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4" name="Rectangle 503"/>
          <p:cNvSpPr/>
          <p:nvPr/>
        </p:nvSpPr>
        <p:spPr>
          <a:xfrm>
            <a:off x="9648748"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5" name="Rectangle 504"/>
          <p:cNvSpPr/>
          <p:nvPr/>
        </p:nvSpPr>
        <p:spPr>
          <a:xfrm>
            <a:off x="9776764"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6" name="Rectangle 505"/>
          <p:cNvSpPr/>
          <p:nvPr/>
        </p:nvSpPr>
        <p:spPr>
          <a:xfrm>
            <a:off x="9904780"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7" name="Rectangle 506"/>
          <p:cNvSpPr/>
          <p:nvPr/>
        </p:nvSpPr>
        <p:spPr>
          <a:xfrm>
            <a:off x="10032796"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8" name="Rectangle 507"/>
          <p:cNvSpPr/>
          <p:nvPr/>
        </p:nvSpPr>
        <p:spPr>
          <a:xfrm>
            <a:off x="10160812"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9" name="Rectangle 508"/>
          <p:cNvSpPr/>
          <p:nvPr/>
        </p:nvSpPr>
        <p:spPr>
          <a:xfrm>
            <a:off x="10288828" y="2895904"/>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0" name="Rectangle 509"/>
          <p:cNvSpPr/>
          <p:nvPr/>
        </p:nvSpPr>
        <p:spPr>
          <a:xfrm>
            <a:off x="9136684"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1" name="Rectangle 510"/>
          <p:cNvSpPr/>
          <p:nvPr/>
        </p:nvSpPr>
        <p:spPr>
          <a:xfrm>
            <a:off x="9264700"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2" name="Rectangle 511"/>
          <p:cNvSpPr/>
          <p:nvPr/>
        </p:nvSpPr>
        <p:spPr>
          <a:xfrm>
            <a:off x="9392716"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3" name="Rectangle 512"/>
          <p:cNvSpPr/>
          <p:nvPr/>
        </p:nvSpPr>
        <p:spPr>
          <a:xfrm>
            <a:off x="9520732"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4" name="Rectangle 513"/>
          <p:cNvSpPr/>
          <p:nvPr/>
        </p:nvSpPr>
        <p:spPr>
          <a:xfrm>
            <a:off x="9648748"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5" name="Rectangle 514"/>
          <p:cNvSpPr/>
          <p:nvPr/>
        </p:nvSpPr>
        <p:spPr>
          <a:xfrm>
            <a:off x="9776764"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6" name="Rectangle 515"/>
          <p:cNvSpPr/>
          <p:nvPr/>
        </p:nvSpPr>
        <p:spPr>
          <a:xfrm>
            <a:off x="9904780"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7" name="Rectangle 516"/>
          <p:cNvSpPr/>
          <p:nvPr/>
        </p:nvSpPr>
        <p:spPr>
          <a:xfrm>
            <a:off x="10032796"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8" name="Rectangle 517"/>
          <p:cNvSpPr/>
          <p:nvPr/>
        </p:nvSpPr>
        <p:spPr>
          <a:xfrm>
            <a:off x="10160812"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9" name="Rectangle 518"/>
          <p:cNvSpPr/>
          <p:nvPr/>
        </p:nvSpPr>
        <p:spPr>
          <a:xfrm>
            <a:off x="10288828" y="3023920"/>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0" name="Rectangle 519"/>
          <p:cNvSpPr/>
          <p:nvPr/>
        </p:nvSpPr>
        <p:spPr>
          <a:xfrm>
            <a:off x="9136684"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1" name="Rectangle 520"/>
          <p:cNvSpPr/>
          <p:nvPr/>
        </p:nvSpPr>
        <p:spPr>
          <a:xfrm>
            <a:off x="9264700"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2" name="Rectangle 521"/>
          <p:cNvSpPr/>
          <p:nvPr/>
        </p:nvSpPr>
        <p:spPr>
          <a:xfrm>
            <a:off x="9392716"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3" name="Rectangle 522"/>
          <p:cNvSpPr/>
          <p:nvPr/>
        </p:nvSpPr>
        <p:spPr>
          <a:xfrm>
            <a:off x="9520732"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4" name="Rectangle 523"/>
          <p:cNvSpPr/>
          <p:nvPr/>
        </p:nvSpPr>
        <p:spPr>
          <a:xfrm>
            <a:off x="9648748"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5" name="Rectangle 524"/>
          <p:cNvSpPr/>
          <p:nvPr/>
        </p:nvSpPr>
        <p:spPr>
          <a:xfrm>
            <a:off x="9776764"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6" name="Rectangle 525"/>
          <p:cNvSpPr/>
          <p:nvPr/>
        </p:nvSpPr>
        <p:spPr>
          <a:xfrm>
            <a:off x="9904780"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7" name="Rectangle 526"/>
          <p:cNvSpPr/>
          <p:nvPr/>
        </p:nvSpPr>
        <p:spPr>
          <a:xfrm>
            <a:off x="10032796"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8" name="Rectangle 527"/>
          <p:cNvSpPr/>
          <p:nvPr/>
        </p:nvSpPr>
        <p:spPr>
          <a:xfrm>
            <a:off x="10160812"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9" name="Rectangle 528"/>
          <p:cNvSpPr/>
          <p:nvPr/>
        </p:nvSpPr>
        <p:spPr>
          <a:xfrm>
            <a:off x="10288828" y="3151936"/>
            <a:ext cx="115216" cy="115216"/>
          </a:xfrm>
          <a:prstGeom prst="rect">
            <a:avLst/>
          </a:prstGeom>
          <a:solidFill>
            <a:srgbClr val="18858A"/>
          </a:solidFill>
          <a:ln w="5080">
            <a:solidFill>
              <a:srgbClr val="1885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0" name="Rectangle 529"/>
          <p:cNvSpPr/>
          <p:nvPr/>
        </p:nvSpPr>
        <p:spPr>
          <a:xfrm>
            <a:off x="9221724" y="3374136"/>
            <a:ext cx="109728" cy="109728"/>
          </a:xfrm>
          <a:prstGeom prst="rect">
            <a:avLst/>
          </a:prstGeom>
          <a:solidFill>
            <a:srgbClr val="18858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1" name="TextBox 530"/>
          <p:cNvSpPr txBox="1"/>
          <p:nvPr/>
        </p:nvSpPr>
        <p:spPr>
          <a:xfrm>
            <a:off x="936802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hidden</a:t>
            </a:r>
          </a:p>
        </p:txBody>
      </p:sp>
      <p:sp>
        <p:nvSpPr>
          <p:cNvPr id="532" name="Rectangle 531"/>
          <p:cNvSpPr/>
          <p:nvPr/>
        </p:nvSpPr>
        <p:spPr>
          <a:xfrm>
            <a:off x="10044684" y="3374136"/>
            <a:ext cx="109728" cy="109728"/>
          </a:xfrm>
          <a:prstGeom prst="rect">
            <a:avLst/>
          </a:prstGeom>
          <a:solidFill>
            <a:srgbClr val="ECF1F4"/>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3" name="TextBox 532"/>
          <p:cNvSpPr txBox="1"/>
          <p:nvPr/>
        </p:nvSpPr>
        <p:spPr>
          <a:xfrm>
            <a:off x="10190988" y="3348533"/>
            <a:ext cx="786384" cy="164592"/>
          </a:xfrm>
          <a:prstGeom prst="rect">
            <a:avLst/>
          </a:prstGeom>
          <a:noFill/>
        </p:spPr>
        <p:txBody>
          <a:bodyPr wrap="square" anchor="t">
            <a:spAutoFit/>
          </a:bodyPr>
          <a:lstStyle/>
          <a:p>
            <a:pPr algn="l">
              <a:lnSpc>
                <a:spcPct val="100000"/>
              </a:lnSpc>
            </a:pPr>
            <a:r>
              <a:rPr sz="750" b="0" i="0">
                <a:solidFill>
                  <a:srgbClr val="5B6B7A"/>
                </a:solidFill>
                <a:latin typeface="Calibri"/>
              </a:rPr>
              <a:t>never hidden</a:t>
            </a:r>
          </a:p>
        </p:txBody>
      </p:sp>
      <p:sp>
        <p:nvSpPr>
          <p:cNvPr id="534" name="TextBox 533"/>
          <p:cNvSpPr txBox="1"/>
          <p:nvPr/>
        </p:nvSpPr>
        <p:spPr>
          <a:xfrm>
            <a:off x="9130284" y="3675888"/>
            <a:ext cx="2551176" cy="658368"/>
          </a:xfrm>
          <a:prstGeom prst="rect">
            <a:avLst/>
          </a:prstGeom>
          <a:noFill/>
        </p:spPr>
        <p:txBody>
          <a:bodyPr wrap="square" anchor="t">
            <a:spAutoFit/>
          </a:bodyPr>
          <a:lstStyle/>
          <a:p>
            <a:pPr algn="l">
              <a:lnSpc>
                <a:spcPct val="110000"/>
              </a:lnSpc>
            </a:pPr>
            <a:r>
              <a:rPr sz="850" b="0" i="0">
                <a:solidFill>
                  <a:srgbClr val="1F2A37"/>
                </a:solidFill>
                <a:latin typeface="Calibri"/>
              </a:rPr>
              <a:t>Temporal run plus a spatial rectangle. This</a:t>
            </a:r>
          </a:p>
          <a:p>
            <a:pPr algn="l">
              <a:lnSpc>
                <a:spcPct val="110000"/>
              </a:lnSpc>
            </a:pPr>
            <a:r>
              <a:rPr sz="850" b="0" i="0">
                <a:solidFill>
                  <a:srgbClr val="1F2A37"/>
                </a:solidFill>
                <a:latin typeface="Calibri"/>
              </a:rPr>
              <a:t>panel shows both branches present, which a</a:t>
            </a:r>
          </a:p>
          <a:p>
            <a:pPr algn="l">
              <a:lnSpc>
                <a:spcPct val="110000"/>
              </a:lnSpc>
            </a:pPr>
            <a:r>
              <a:rPr sz="850" b="0" i="0">
                <a:solidFill>
                  <a:srgbClr val="1F2A37"/>
                </a:solidFill>
                <a:latin typeface="Calibri"/>
              </a:rPr>
              <a:t>random draw takes with probability 0.35.</a:t>
            </a:r>
          </a:p>
        </p:txBody>
      </p:sp>
      <p:sp>
        <p:nvSpPr>
          <p:cNvPr id="535" name="TextBox 534"/>
          <p:cNvSpPr txBox="1"/>
          <p:nvPr/>
        </p:nvSpPr>
        <p:spPr>
          <a:xfrm>
            <a:off x="9130284" y="4352544"/>
            <a:ext cx="2551176" cy="365760"/>
          </a:xfrm>
          <a:prstGeom prst="rect">
            <a:avLst/>
          </a:prstGeom>
          <a:noFill/>
        </p:spPr>
        <p:txBody>
          <a:bodyPr wrap="square" anchor="t">
            <a:spAutoFit/>
          </a:bodyPr>
          <a:lstStyle/>
          <a:p>
            <a:pPr algn="l">
              <a:lnSpc>
                <a:spcPct val="110000"/>
              </a:lnSpc>
            </a:pPr>
            <a:r>
              <a:rPr sz="750" b="0" i="1">
                <a:solidFill>
                  <a:srgbClr val="5B6B7A"/>
                </a:solidFill>
                <a:latin typeface="Calibri"/>
              </a:rPr>
              <a:t>Grid: rectangle placed on one draw.</a:t>
            </a:r>
          </a:p>
          <a:p>
            <a:pPr algn="l">
              <a:lnSpc>
                <a:spcPct val="110000"/>
              </a:lnSpc>
            </a:pPr>
            <a:r>
              <a:rPr sz="750" b="0" i="1">
                <a:solidFill>
                  <a:srgbClr val="5B6B7A"/>
                </a:solidFill>
                <a:latin typeface="Calibri"/>
              </a:rPr>
              <a:t>Strip: temporal run, day 1-11 of 28.</a:t>
            </a:r>
          </a:p>
        </p:txBody>
      </p:sp>
      <p:sp>
        <p:nvSpPr>
          <p:cNvPr id="536" name="Rounded Rectangle 535"/>
          <p:cNvSpPr/>
          <p:nvPr/>
        </p:nvSpPr>
        <p:spPr>
          <a:xfrm>
            <a:off x="301752" y="5029200"/>
            <a:ext cx="11585448" cy="1481328"/>
          </a:xfrm>
          <a:prstGeom prst="roundRect">
            <a:avLst>
              <a:gd name="adj" fmla="val 5000"/>
            </a:avLst>
          </a:prstGeom>
          <a:solidFill>
            <a:srgbClr val="F4F7F9"/>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7" name="TextBox 536"/>
          <p:cNvSpPr txBox="1"/>
          <p:nvPr/>
        </p:nvSpPr>
        <p:spPr>
          <a:xfrm>
            <a:off x="475488" y="5138928"/>
            <a:ext cx="11237976" cy="1298448"/>
          </a:xfrm>
          <a:prstGeom prst="rect">
            <a:avLst/>
          </a:prstGeom>
          <a:noFill/>
        </p:spPr>
        <p:txBody>
          <a:bodyPr wrap="square" anchor="t">
            <a:spAutoFit/>
          </a:bodyPr>
          <a:lstStyle/>
          <a:p>
            <a:pPr algn="l">
              <a:lnSpc>
                <a:spcPct val="112000"/>
              </a:lnSpc>
            </a:pPr>
            <a:r>
              <a:rPr sz="900" b="0" i="0">
                <a:solidFill>
                  <a:srgbClr val="1F2A37"/>
                </a:solidFill>
                <a:latin typeface="Calibri"/>
              </a:rPr>
              <a:t>Protocol. Masks are drawn once per month by random_observation_mask (dmgsr.masked_temporal) with gap lengths 1-7 days, spatial side lengths 2-5 cells, and spatial probability 0.35 in mixed mode. The same stored mask is scored for every method, and only valid, artificially hidden cells enter RMSE, CRPS, coverage and interval width.</a:t>
            </a:r>
          </a:p>
          <a:p>
            <a:pPr algn="l">
              <a:lnSpc>
                <a:spcPct val="112000"/>
              </a:lnSpc>
            </a:pPr>
            <a:r>
              <a:rPr sz="900" b="0" i="0">
                <a:solidFill>
                  <a:srgbClr val="1F2A37"/>
                </a:solidFill>
                <a:latin typeface="Calibri"/>
              </a:rPr>
              <a:t>Patterns shown here. Each calendar strip is one regenerated example of that family over a 28-day month; the spatial panel shows the union of a real spatial-mode mask. The Mixed panel can therefore coincide with the Temporal strip for a draw in which the spatial branch was not taken.</a:t>
            </a:r>
          </a:p>
          <a:p>
            <a:pPr algn="l">
              <a:lnSpc>
                <a:spcPct val="112000"/>
              </a:lnSpc>
            </a:pPr>
            <a:r>
              <a:rPr sz="900" b="0" i="0">
                <a:solidFill>
                  <a:srgbClr val="1F2A37"/>
                </a:solidFill>
                <a:latin typeface="Calibri"/>
              </a:rPr>
              <a:t>Boundary. This figure depicts the experimental design only and reports no skill. Aggregate skill is in Table 1 and Figures 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01168"/>
            <a:ext cx="11247120" cy="365760"/>
          </a:xfrm>
          <a:prstGeom prst="rect">
            <a:avLst/>
          </a:prstGeom>
          <a:noFill/>
        </p:spPr>
        <p:txBody>
          <a:bodyPr wrap="square" anchor="t">
            <a:spAutoFit/>
          </a:bodyPr>
          <a:lstStyle/>
          <a:p>
            <a:pPr algn="l">
              <a:lnSpc>
                <a:spcPct val="100000"/>
              </a:lnSpc>
            </a:pPr>
            <a:r>
              <a:rPr sz="2200" b="1" i="0">
                <a:solidFill>
                  <a:srgbClr val="1F2A37"/>
                </a:solidFill>
                <a:latin typeface="Calibri"/>
              </a:rPr>
              <a:t>Missing figure 2 — What happens at a chunk boundary during reverse sampling</a:t>
            </a:r>
          </a:p>
        </p:txBody>
      </p:sp>
      <p:sp>
        <p:nvSpPr>
          <p:cNvPr id="4" name="TextBox 3"/>
          <p:cNvSpPr txBox="1"/>
          <p:nvPr/>
        </p:nvSpPr>
        <p:spPr>
          <a:xfrm>
            <a:off x="457200" y="640080"/>
            <a:ext cx="11247120" cy="310896"/>
          </a:xfrm>
          <a:prstGeom prst="rect">
            <a:avLst/>
          </a:prstGeom>
          <a:noFill/>
        </p:spPr>
        <p:txBody>
          <a:bodyPr wrap="square" anchor="t">
            <a:spAutoFit/>
          </a:bodyPr>
          <a:lstStyle/>
          <a:p>
            <a:pPr algn="l">
              <a:lnSpc>
                <a:spcPct val="100000"/>
              </a:lnSpc>
            </a:pPr>
            <a:r>
              <a:rPr sz="1050" b="0" i="0">
                <a:solidFill>
                  <a:srgbClr val="5B6B7A"/>
                </a:solidFill>
                <a:latin typeface="Calibri"/>
              </a:rPr>
              <a:t>64 cosine-scheduled reverse steps are processed in eight chunks of eight. After each chunk the sequence below runs once, then a consistent noisy latent is rebuilt and fed into the next chunk.</a:t>
            </a:r>
          </a:p>
        </p:txBody>
      </p:sp>
      <p:sp>
        <p:nvSpPr>
          <p:cNvPr id="5" name="Rounded Rectangle 4"/>
          <p:cNvSpPr/>
          <p:nvPr/>
        </p:nvSpPr>
        <p:spPr>
          <a:xfrm>
            <a:off x="457200" y="1042415"/>
            <a:ext cx="11274552" cy="731520"/>
          </a:xfrm>
          <a:prstGeom prst="roundRect">
            <a:avLst>
              <a:gd name="adj" fmla="val 10000"/>
            </a:avLst>
          </a:prstGeom>
          <a:solidFill>
            <a:srgbClr val="EAE4F0"/>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106423"/>
            <a:ext cx="4754880" cy="219456"/>
          </a:xfrm>
          <a:prstGeom prst="rect">
            <a:avLst/>
          </a:prstGeom>
          <a:noFill/>
        </p:spPr>
        <p:txBody>
          <a:bodyPr wrap="square" anchor="t">
            <a:spAutoFit/>
          </a:bodyPr>
          <a:lstStyle/>
          <a:p>
            <a:pPr algn="l">
              <a:lnSpc>
                <a:spcPct val="100000"/>
              </a:lnSpc>
            </a:pPr>
            <a:r>
              <a:rPr sz="1200" b="1" i="0">
                <a:solidFill>
                  <a:srgbClr val="1F2A37"/>
                </a:solidFill>
                <a:latin typeface="Calibri"/>
              </a:rPr>
              <a:t>A. Within a chunk - eight denoising steps</a:t>
            </a:r>
          </a:p>
        </p:txBody>
      </p:sp>
      <p:sp>
        <p:nvSpPr>
          <p:cNvPr id="7" name="TextBox 6"/>
          <p:cNvSpPr txBox="1"/>
          <p:nvPr/>
        </p:nvSpPr>
        <p:spPr>
          <a:xfrm>
            <a:off x="621792" y="1353311"/>
            <a:ext cx="10927080" cy="384048"/>
          </a:xfrm>
          <a:prstGeom prst="rect">
            <a:avLst/>
          </a:prstGeom>
          <a:noFill/>
        </p:spPr>
        <p:txBody>
          <a:bodyPr wrap="square" anchor="t">
            <a:spAutoFit/>
          </a:bodyPr>
          <a:lstStyle/>
          <a:p>
            <a:pPr algn="l">
              <a:lnSpc>
                <a:spcPct val="110000"/>
              </a:lnSpc>
            </a:pPr>
            <a:r>
              <a:rPr sz="950" b="0" i="0">
                <a:solidFill>
                  <a:srgbClr val="1F2A37"/>
                </a:solidFill>
                <a:latin typeface="Calibri"/>
              </a:rPr>
              <a:t>velocity prediction v_theta  -&gt;  clean estimate  r0 = sqrt(alpha_t) z - sqrt(1 - alpha_t) v_theta  -&gt;  scale back to radiation and clamp to [0, U], U = max(50, 1.05 max(Ra, 20))  -&gt;  restore observed cells  -&gt;  recompute the noise direction and re-noise the latent</a:t>
            </a:r>
          </a:p>
        </p:txBody>
      </p:sp>
      <p:cxnSp>
        <p:nvCxnSpPr>
          <p:cNvPr id="8" name="Connector 7"/>
          <p:cNvCxnSpPr/>
          <p:nvPr/>
        </p:nvCxnSpPr>
        <p:spPr>
          <a:xfrm>
            <a:off x="6099048" y="1773935"/>
            <a:ext cx="0" cy="237744"/>
          </a:xfrm>
          <a:prstGeom prst="line">
            <a:avLst/>
          </a:prstGeom>
          <a:ln w="20320">
            <a:solidFill>
              <a:srgbClr val="6575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 y="2011680"/>
            <a:ext cx="11274552" cy="2103120"/>
          </a:xfrm>
          <a:prstGeom prst="roundRect">
            <a:avLst>
              <a:gd name="adj" fmla="val 5000"/>
            </a:avLst>
          </a:prstGeom>
          <a:solidFill>
            <a:srgbClr val="F4F7F9"/>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 y="2084832"/>
            <a:ext cx="7315200" cy="219456"/>
          </a:xfrm>
          <a:prstGeom prst="rect">
            <a:avLst/>
          </a:prstGeom>
          <a:noFill/>
        </p:spPr>
        <p:txBody>
          <a:bodyPr wrap="square" anchor="t">
            <a:spAutoFit/>
          </a:bodyPr>
          <a:lstStyle/>
          <a:p>
            <a:pPr algn="l">
              <a:lnSpc>
                <a:spcPct val="100000"/>
              </a:lnSpc>
            </a:pPr>
            <a:r>
              <a:rPr sz="1200" b="1" i="0">
                <a:solidFill>
                  <a:srgbClr val="1F2A37"/>
                </a:solidFill>
                <a:latin typeface="Calibri"/>
              </a:rPr>
              <a:t>B. At the chunk boundary - correction sequence, in code order</a:t>
            </a:r>
          </a:p>
        </p:txBody>
      </p:sp>
      <p:sp>
        <p:nvSpPr>
          <p:cNvPr id="11" name="Rounded Rectangle 10"/>
          <p:cNvSpPr/>
          <p:nvPr/>
        </p:nvSpPr>
        <p:spPr>
          <a:xfrm>
            <a:off x="603504" y="2377440"/>
            <a:ext cx="2121408" cy="1627632"/>
          </a:xfrm>
          <a:prstGeom prst="roundRect">
            <a:avLst>
              <a:gd name="adj" fmla="val 70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3504" y="2377440"/>
            <a:ext cx="2121408" cy="45720"/>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4944" y="2468880"/>
            <a:ext cx="1938528" cy="402336"/>
          </a:xfrm>
          <a:prstGeom prst="rect">
            <a:avLst/>
          </a:prstGeom>
          <a:noFill/>
        </p:spPr>
        <p:txBody>
          <a:bodyPr wrap="square" anchor="t">
            <a:spAutoFit/>
          </a:bodyPr>
          <a:lstStyle/>
          <a:p>
            <a:pPr algn="l">
              <a:lnSpc>
                <a:spcPct val="102000"/>
              </a:lnSpc>
            </a:pPr>
            <a:r>
              <a:rPr sz="950" b="1" i="0">
                <a:solidFill>
                  <a:srgbClr val="1F2A37"/>
                </a:solidFill>
                <a:latin typeface="Calibri"/>
              </a:rPr>
              <a:t>1. Ensemble spread</a:t>
            </a:r>
          </a:p>
        </p:txBody>
      </p:sp>
      <p:sp>
        <p:nvSpPr>
          <p:cNvPr id="14" name="TextBox 13"/>
          <p:cNvSpPr txBox="1"/>
          <p:nvPr/>
        </p:nvSpPr>
        <p:spPr>
          <a:xfrm>
            <a:off x="694944" y="2871216"/>
            <a:ext cx="1938528" cy="1097280"/>
          </a:xfrm>
          <a:prstGeom prst="rect">
            <a:avLst/>
          </a:prstGeom>
          <a:noFill/>
        </p:spPr>
        <p:txBody>
          <a:bodyPr wrap="square" anchor="t">
            <a:spAutoFit/>
          </a:bodyPr>
          <a:lstStyle/>
          <a:p>
            <a:pPr algn="l">
              <a:lnSpc>
                <a:spcPct val="106000"/>
              </a:lnSpc>
            </a:pPr>
            <a:r>
              <a:rPr sz="819" b="0" i="0">
                <a:solidFill>
                  <a:srgbClr val="5B6B7A"/>
                </a:solidFill>
                <a:latin typeface="Calibri"/>
              </a:rPr>
              <a:t>sigma^2 = variance over the 12</a:t>
            </a:r>
          </a:p>
          <a:p>
            <a:pPr algn="l">
              <a:lnSpc>
                <a:spcPct val="106000"/>
              </a:lnSpc>
            </a:pPr>
            <a:r>
              <a:rPr sz="819" b="0" i="0">
                <a:solidFill>
                  <a:srgbClr val="5B6B7A"/>
                </a:solidFill>
                <a:latin typeface="Calibri"/>
              </a:rPr>
              <a:t>members of the current clean</a:t>
            </a:r>
          </a:p>
          <a:p>
            <a:pPr algn="l">
              <a:lnSpc>
                <a:spcPct val="106000"/>
              </a:lnSpc>
            </a:pPr>
            <a:r>
              <a:rPr sz="819" b="0" i="0">
                <a:solidFill>
                  <a:srgbClr val="5B6B7A"/>
                </a:solidFill>
                <a:latin typeface="Calibri"/>
              </a:rPr>
              <a:t>estimate</a:t>
            </a:r>
          </a:p>
        </p:txBody>
      </p:sp>
      <p:cxnSp>
        <p:nvCxnSpPr>
          <p:cNvPr id="15" name="Connector 14"/>
          <p:cNvCxnSpPr/>
          <p:nvPr/>
        </p:nvCxnSpPr>
        <p:spPr>
          <a:xfrm>
            <a:off x="2724912" y="3191256"/>
            <a:ext cx="87782" cy="0"/>
          </a:xfrm>
          <a:prstGeom prst="line">
            <a:avLst/>
          </a:prstGeom>
          <a:ln w="13970">
            <a:solidFill>
              <a:srgbClr val="6575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12694" y="2377440"/>
            <a:ext cx="2121408" cy="1627632"/>
          </a:xfrm>
          <a:prstGeom prst="roundRect">
            <a:avLst>
              <a:gd name="adj" fmla="val 70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812694" y="2377440"/>
            <a:ext cx="2121408" cy="45720"/>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04134" y="2468880"/>
            <a:ext cx="1938528" cy="402336"/>
          </a:xfrm>
          <a:prstGeom prst="rect">
            <a:avLst/>
          </a:prstGeom>
          <a:noFill/>
        </p:spPr>
        <p:txBody>
          <a:bodyPr wrap="square" anchor="t">
            <a:spAutoFit/>
          </a:bodyPr>
          <a:lstStyle/>
          <a:p>
            <a:pPr algn="l">
              <a:lnSpc>
                <a:spcPct val="102000"/>
              </a:lnSpc>
            </a:pPr>
            <a:r>
              <a:rPr sz="950" b="1" i="0">
                <a:solidFill>
                  <a:srgbClr val="1F2A37"/>
                </a:solidFill>
                <a:latin typeface="Calibri"/>
              </a:rPr>
              <a:t>2. Variance-adaptive gain</a:t>
            </a:r>
          </a:p>
        </p:txBody>
      </p:sp>
      <p:sp>
        <p:nvSpPr>
          <p:cNvPr id="19" name="TextBox 18"/>
          <p:cNvSpPr txBox="1"/>
          <p:nvPr/>
        </p:nvSpPr>
        <p:spPr>
          <a:xfrm>
            <a:off x="2904134" y="2871216"/>
            <a:ext cx="1938528" cy="1097280"/>
          </a:xfrm>
          <a:prstGeom prst="rect">
            <a:avLst/>
          </a:prstGeom>
          <a:noFill/>
        </p:spPr>
        <p:txBody>
          <a:bodyPr wrap="square" anchor="t">
            <a:spAutoFit/>
          </a:bodyPr>
          <a:lstStyle/>
          <a:p>
            <a:pPr algn="l">
              <a:lnSpc>
                <a:spcPct val="106000"/>
              </a:lnSpc>
            </a:pPr>
            <a:r>
              <a:rPr sz="819" b="0" i="0">
                <a:solidFill>
                  <a:srgbClr val="5B6B7A"/>
                </a:solidFill>
                <a:latin typeface="Calibri"/>
              </a:rPr>
              <a:t>k = clip(sigma^2 / (sigma^2 + (s_r f)^2),</a:t>
            </a:r>
          </a:p>
          <a:p>
            <a:pPr algn="l">
              <a:lnSpc>
                <a:spcPct val="106000"/>
              </a:lnSpc>
            </a:pPr>
            <a:r>
              <a:rPr sz="819" b="0" i="0">
                <a:solidFill>
                  <a:srgbClr val="5B6B7A"/>
                </a:solidFill>
                <a:latin typeface="Calibri"/>
              </a:rPr>
              <a:t>0.15, 0.85)</a:t>
            </a:r>
          </a:p>
          <a:p>
            <a:pPr algn="l">
              <a:lnSpc>
                <a:spcPct val="106000"/>
              </a:lnSpc>
            </a:pPr>
            <a:r>
              <a:rPr sz="819" b="0" i="0">
                <a:solidFill>
                  <a:srgbClr val="5B6B7A"/>
                </a:solidFill>
                <a:latin typeface="Calibri"/>
              </a:rPr>
              <a:t>progress = 1 - low / 64</a:t>
            </a:r>
          </a:p>
        </p:txBody>
      </p:sp>
      <p:cxnSp>
        <p:nvCxnSpPr>
          <p:cNvPr id="20" name="Connector 19"/>
          <p:cNvCxnSpPr/>
          <p:nvPr/>
        </p:nvCxnSpPr>
        <p:spPr>
          <a:xfrm>
            <a:off x="4934102" y="3191256"/>
            <a:ext cx="87782" cy="0"/>
          </a:xfrm>
          <a:prstGeom prst="line">
            <a:avLst/>
          </a:prstGeom>
          <a:ln w="13970">
            <a:solidFill>
              <a:srgbClr val="6575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21884" y="2377440"/>
            <a:ext cx="2121408" cy="1627632"/>
          </a:xfrm>
          <a:prstGeom prst="roundRect">
            <a:avLst>
              <a:gd name="adj" fmla="val 70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021884" y="2377440"/>
            <a:ext cx="2121408" cy="45720"/>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113324" y="2468880"/>
            <a:ext cx="1938528" cy="402336"/>
          </a:xfrm>
          <a:prstGeom prst="rect">
            <a:avLst/>
          </a:prstGeom>
          <a:noFill/>
        </p:spPr>
        <p:txBody>
          <a:bodyPr wrap="square" anchor="t">
            <a:spAutoFit/>
          </a:bodyPr>
          <a:lstStyle/>
          <a:p>
            <a:pPr algn="l">
              <a:lnSpc>
                <a:spcPct val="102000"/>
              </a:lnSpc>
            </a:pPr>
            <a:r>
              <a:rPr sz="950" b="1" i="0">
                <a:solidFill>
                  <a:srgbClr val="1F2A37"/>
                </a:solidFill>
                <a:latin typeface="Calibri"/>
              </a:rPr>
              <a:t>3. Bounded monthly projection</a:t>
            </a:r>
          </a:p>
        </p:txBody>
      </p:sp>
      <p:sp>
        <p:nvSpPr>
          <p:cNvPr id="24" name="TextBox 23"/>
          <p:cNvSpPr txBox="1"/>
          <p:nvPr/>
        </p:nvSpPr>
        <p:spPr>
          <a:xfrm>
            <a:off x="5113324" y="2871216"/>
            <a:ext cx="1938528" cy="1097280"/>
          </a:xfrm>
          <a:prstGeom prst="rect">
            <a:avLst/>
          </a:prstGeom>
          <a:noFill/>
        </p:spPr>
        <p:txBody>
          <a:bodyPr wrap="square" anchor="t">
            <a:spAutoFit/>
          </a:bodyPr>
          <a:lstStyle/>
          <a:p>
            <a:pPr algn="l">
              <a:lnSpc>
                <a:spcPct val="106000"/>
              </a:lnSpc>
            </a:pPr>
            <a:r>
              <a:rPr sz="819" b="0" i="0">
                <a:solidFill>
                  <a:srgbClr val="5B6B7A"/>
                </a:solidFill>
                <a:latin typeface="Calibri"/>
              </a:rPr>
              <a:t>allocate the coarse block energy</a:t>
            </a:r>
          </a:p>
          <a:p>
            <a:pPr algn="l">
              <a:lnSpc>
                <a:spcPct val="106000"/>
              </a:lnSpc>
            </a:pPr>
            <a:r>
              <a:rPr sz="819" b="0" i="0">
                <a:solidFill>
                  <a:srgbClr val="5B6B7A"/>
                </a:solidFill>
                <a:latin typeface="Calibri"/>
              </a:rPr>
              <a:t>remaining after the observed</a:t>
            </a:r>
          </a:p>
          <a:p>
            <a:pPr algn="l">
              <a:lnSpc>
                <a:spcPct val="106000"/>
              </a:lnSpc>
            </a:pPr>
            <a:r>
              <a:rPr sz="819" b="0" i="0">
                <a:solidFill>
                  <a:srgbClr val="5B6B7A"/>
                </a:solidFill>
                <a:latin typeface="Calibri"/>
              </a:rPr>
              <a:t>contribution, using the actual</a:t>
            </a:r>
          </a:p>
          <a:p>
            <a:pPr algn="l">
              <a:lnSpc>
                <a:spcPct val="106000"/>
              </a:lnSpc>
            </a:pPr>
            <a:r>
              <a:rPr sz="819" b="0" i="0">
                <a:solidFill>
                  <a:srgbClr val="5B6B7A"/>
                </a:solidFill>
                <a:latin typeface="Calibri"/>
              </a:rPr>
              <a:t>valid-day count, then clamp to U</a:t>
            </a:r>
          </a:p>
        </p:txBody>
      </p:sp>
      <p:cxnSp>
        <p:nvCxnSpPr>
          <p:cNvPr id="25" name="Connector 24"/>
          <p:cNvCxnSpPr/>
          <p:nvPr/>
        </p:nvCxnSpPr>
        <p:spPr>
          <a:xfrm>
            <a:off x="7143292" y="3191256"/>
            <a:ext cx="87782" cy="0"/>
          </a:xfrm>
          <a:prstGeom prst="line">
            <a:avLst/>
          </a:prstGeom>
          <a:ln w="13970">
            <a:solidFill>
              <a:srgbClr val="6575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231074" y="2377440"/>
            <a:ext cx="2121408" cy="1627632"/>
          </a:xfrm>
          <a:prstGeom prst="roundRect">
            <a:avLst>
              <a:gd name="adj" fmla="val 70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31074" y="2377440"/>
            <a:ext cx="2121408" cy="45720"/>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22514" y="2468880"/>
            <a:ext cx="1938528" cy="402336"/>
          </a:xfrm>
          <a:prstGeom prst="rect">
            <a:avLst/>
          </a:prstGeom>
          <a:noFill/>
        </p:spPr>
        <p:txBody>
          <a:bodyPr wrap="square" anchor="t">
            <a:spAutoFit/>
          </a:bodyPr>
          <a:lstStyle/>
          <a:p>
            <a:pPr algn="l">
              <a:lnSpc>
                <a:spcPct val="102000"/>
              </a:lnSpc>
            </a:pPr>
            <a:r>
              <a:rPr sz="950" b="1" i="0">
                <a:solidFill>
                  <a:srgbClr val="1F2A37"/>
                </a:solidFill>
                <a:latin typeface="Calibri"/>
              </a:rPr>
              <a:t>4. Graph boundary update</a:t>
            </a:r>
          </a:p>
        </p:txBody>
      </p:sp>
      <p:sp>
        <p:nvSpPr>
          <p:cNvPr id="29" name="TextBox 28"/>
          <p:cNvSpPr txBox="1"/>
          <p:nvPr/>
        </p:nvSpPr>
        <p:spPr>
          <a:xfrm>
            <a:off x="7322514" y="2871216"/>
            <a:ext cx="1938528" cy="1097280"/>
          </a:xfrm>
          <a:prstGeom prst="rect">
            <a:avLst/>
          </a:prstGeom>
          <a:noFill/>
        </p:spPr>
        <p:txBody>
          <a:bodyPr wrap="square" anchor="t">
            <a:spAutoFit/>
          </a:bodyPr>
          <a:lstStyle/>
          <a:p>
            <a:pPr algn="l">
              <a:lnSpc>
                <a:spcPct val="106000"/>
              </a:lnSpc>
            </a:pPr>
            <a:r>
              <a:rPr sz="819" b="0" i="0">
                <a:solidFill>
                  <a:srgbClr val="5B6B7A"/>
                </a:solidFill>
                <a:latin typeface="Calibri"/>
              </a:rPr>
              <a:t>move hidden boundary cells</a:t>
            </a:r>
          </a:p>
          <a:p>
            <a:pPr algn="l">
              <a:lnSpc>
                <a:spcPct val="106000"/>
              </a:lnSpc>
            </a:pPr>
            <a:r>
              <a:rPr sz="819" b="0" i="0">
                <a:solidFill>
                  <a:srgbClr val="5B6B7A"/>
                </a:solidFill>
                <a:latin typeface="Calibri"/>
              </a:rPr>
              <a:t>toward the four-neighbour</a:t>
            </a:r>
          </a:p>
          <a:p>
            <a:pPr algn="l">
              <a:lnSpc>
                <a:spcPct val="106000"/>
              </a:lnSpc>
            </a:pPr>
            <a:r>
              <a:rPr sz="819" b="0" i="0">
                <a:solidFill>
                  <a:srgbClr val="5B6B7A"/>
                </a:solidFill>
                <a:latin typeface="Calibri"/>
              </a:rPr>
              <a:t>context, strength 0.15, then</a:t>
            </a:r>
          </a:p>
          <a:p>
            <a:pPr algn="l">
              <a:lnSpc>
                <a:spcPct val="106000"/>
              </a:lnSpc>
            </a:pPr>
            <a:r>
              <a:rPr sz="819" b="0" i="0">
                <a:solidFill>
                  <a:srgbClr val="5B6B7A"/>
                </a:solidFill>
                <a:latin typeface="Calibri"/>
              </a:rPr>
              <a:t>restore observations</a:t>
            </a:r>
          </a:p>
        </p:txBody>
      </p:sp>
      <p:cxnSp>
        <p:nvCxnSpPr>
          <p:cNvPr id="30" name="Connector 29"/>
          <p:cNvCxnSpPr/>
          <p:nvPr/>
        </p:nvCxnSpPr>
        <p:spPr>
          <a:xfrm>
            <a:off x="9352482" y="3191256"/>
            <a:ext cx="87782" cy="0"/>
          </a:xfrm>
          <a:prstGeom prst="line">
            <a:avLst/>
          </a:prstGeom>
          <a:ln w="13970">
            <a:solidFill>
              <a:srgbClr val="6575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40264" y="2377440"/>
            <a:ext cx="2121408" cy="1627632"/>
          </a:xfrm>
          <a:prstGeom prst="roundRect">
            <a:avLst>
              <a:gd name="adj" fmla="val 70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440264" y="2377440"/>
            <a:ext cx="2121408" cy="45720"/>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531704" y="2468880"/>
            <a:ext cx="1938528" cy="402336"/>
          </a:xfrm>
          <a:prstGeom prst="rect">
            <a:avLst/>
          </a:prstGeom>
          <a:noFill/>
        </p:spPr>
        <p:txBody>
          <a:bodyPr wrap="square" anchor="t">
            <a:spAutoFit/>
          </a:bodyPr>
          <a:lstStyle/>
          <a:p>
            <a:pPr algn="l">
              <a:lnSpc>
                <a:spcPct val="102000"/>
              </a:lnSpc>
            </a:pPr>
            <a:r>
              <a:rPr sz="950" b="1" i="0">
                <a:solidFill>
                  <a:srgbClr val="1F2A37"/>
                </a:solidFill>
                <a:latin typeface="Calibri"/>
              </a:rPr>
              <a:t>5. Rebuild a consistent latent</a:t>
            </a:r>
          </a:p>
        </p:txBody>
      </p:sp>
      <p:sp>
        <p:nvSpPr>
          <p:cNvPr id="34" name="TextBox 33"/>
          <p:cNvSpPr txBox="1"/>
          <p:nvPr/>
        </p:nvSpPr>
        <p:spPr>
          <a:xfrm>
            <a:off x="9531704" y="2871216"/>
            <a:ext cx="1938528" cy="1097280"/>
          </a:xfrm>
          <a:prstGeom prst="rect">
            <a:avLst/>
          </a:prstGeom>
          <a:noFill/>
        </p:spPr>
        <p:txBody>
          <a:bodyPr wrap="square" anchor="t">
            <a:spAutoFit/>
          </a:bodyPr>
          <a:lstStyle/>
          <a:p>
            <a:pPr algn="l">
              <a:lnSpc>
                <a:spcPct val="106000"/>
              </a:lnSpc>
            </a:pPr>
            <a:r>
              <a:rPr sz="819" b="0" i="0">
                <a:solidFill>
                  <a:srgbClr val="5B6B7A"/>
                </a:solidFill>
                <a:latin typeface="Calibri"/>
              </a:rPr>
              <a:t>recompute eps from the corrected</a:t>
            </a:r>
          </a:p>
          <a:p>
            <a:pPr algn="l">
              <a:lnSpc>
                <a:spcPct val="106000"/>
              </a:lnSpc>
            </a:pPr>
            <a:r>
              <a:rPr sz="819" b="0" i="0">
                <a:solidFill>
                  <a:srgbClr val="5B6B7A"/>
                </a:solidFill>
                <a:latin typeface="Calibri"/>
              </a:rPr>
              <a:t>state, re-noise at alpha_low,</a:t>
            </a:r>
          </a:p>
          <a:p>
            <a:pPr algn="l">
              <a:lnSpc>
                <a:spcPct val="106000"/>
              </a:lnSpc>
            </a:pPr>
            <a:r>
              <a:rPr sz="819" b="0" i="0">
                <a:solidFill>
                  <a:srgbClr val="5B6B7A"/>
                </a:solidFill>
                <a:latin typeface="Calibri"/>
              </a:rPr>
              <a:t>re-noise observations, feed into</a:t>
            </a:r>
          </a:p>
          <a:p>
            <a:pPr algn="l">
              <a:lnSpc>
                <a:spcPct val="106000"/>
              </a:lnSpc>
            </a:pPr>
            <a:r>
              <a:rPr sz="819" b="0" i="0">
                <a:solidFill>
                  <a:srgbClr val="5B6B7A"/>
                </a:solidFill>
                <a:latin typeface="Calibri"/>
              </a:rPr>
              <a:t>the next chunk</a:t>
            </a:r>
          </a:p>
        </p:txBody>
      </p:sp>
      <p:cxnSp>
        <p:nvCxnSpPr>
          <p:cNvPr id="35" name="Connector 34"/>
          <p:cNvCxnSpPr/>
          <p:nvPr/>
        </p:nvCxnSpPr>
        <p:spPr>
          <a:xfrm>
            <a:off x="6099048" y="4114800"/>
            <a:ext cx="0" cy="237744"/>
          </a:xfrm>
          <a:prstGeom prst="line">
            <a:avLst/>
          </a:prstGeom>
          <a:ln w="20320">
            <a:solidFill>
              <a:srgbClr val="6575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57200" y="4754880"/>
            <a:ext cx="5504688" cy="1517904"/>
          </a:xfrm>
          <a:prstGeom prst="roundRect">
            <a:avLst>
              <a:gd name="adj" fmla="val 8000"/>
            </a:avLst>
          </a:prstGeom>
          <a:solidFill>
            <a:srgbClr val="DDEDEC"/>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21792" y="4846320"/>
            <a:ext cx="5212080" cy="219456"/>
          </a:xfrm>
          <a:prstGeom prst="rect">
            <a:avLst/>
          </a:prstGeom>
          <a:noFill/>
        </p:spPr>
        <p:txBody>
          <a:bodyPr wrap="square" anchor="t">
            <a:spAutoFit/>
          </a:bodyPr>
          <a:lstStyle/>
          <a:p>
            <a:pPr algn="l">
              <a:lnSpc>
                <a:spcPct val="100000"/>
              </a:lnSpc>
            </a:pPr>
            <a:r>
              <a:rPr sz="1200" b="1" i="0">
                <a:solidFill>
                  <a:srgbClr val="1F2A37"/>
                </a:solidFill>
                <a:latin typeface="Calibri"/>
              </a:rPr>
              <a:t>C. After step 0 - final processing</a:t>
            </a:r>
          </a:p>
        </p:txBody>
      </p:sp>
      <p:sp>
        <p:nvSpPr>
          <p:cNvPr id="38" name="TextBox 37"/>
          <p:cNvSpPr txBox="1"/>
          <p:nvPr/>
        </p:nvSpPr>
        <p:spPr>
          <a:xfrm>
            <a:off x="621792" y="5102352"/>
            <a:ext cx="5193792" cy="1078992"/>
          </a:xfrm>
          <a:prstGeom prst="rect">
            <a:avLst/>
          </a:prstGeom>
          <a:noFill/>
        </p:spPr>
        <p:txBody>
          <a:bodyPr wrap="square" anchor="t">
            <a:spAutoFit/>
          </a:bodyPr>
          <a:lstStyle/>
          <a:p>
            <a:pPr algn="l">
              <a:lnSpc>
                <a:spcPct val="114000"/>
              </a:lnSpc>
            </a:pPr>
            <a:r>
              <a:rPr sz="950" b="0" i="0">
                <a:solidFill>
                  <a:srgbClr val="1F2A37"/>
                </a:solidFill>
                <a:latin typeface="Calibri"/>
              </a:rPr>
              <a:t>bounded monthly projection (applied twice, with the spatial blends between them)</a:t>
            </a:r>
          </a:p>
          <a:p>
            <a:pPr algn="l">
              <a:lnSpc>
                <a:spcPct val="114000"/>
              </a:lnSpc>
            </a:pPr>
            <a:r>
              <a:rPr sz="950" b="0" i="0">
                <a:solidFill>
                  <a:srgbClr val="1F2A37"/>
                </a:solidFill>
                <a:latin typeface="Calibri"/>
              </a:rPr>
              <a:t>spatial boundary blend</a:t>
            </a:r>
          </a:p>
          <a:p>
            <a:pPr algn="l">
              <a:lnSpc>
                <a:spcPct val="114000"/>
              </a:lnSpc>
            </a:pPr>
            <a:r>
              <a:rPr sz="950" b="0" i="0">
                <a:solidFill>
                  <a:srgbClr val="1F2A37"/>
                </a:solidFill>
                <a:latin typeface="Calibri"/>
              </a:rPr>
              <a:t>spatial diffusion blend, 4 iterations</a:t>
            </a:r>
          </a:p>
          <a:p>
            <a:pPr algn="l">
              <a:lnSpc>
                <a:spcPct val="114000"/>
              </a:lnSpc>
            </a:pPr>
            <a:r>
              <a:rPr sz="950" b="0" i="0">
                <a:solidFill>
                  <a:srgbClr val="1F2A37"/>
                </a:solidFill>
                <a:latin typeface="Calibri"/>
              </a:rPr>
              <a:t>restore observed cells and clamp to [0, U]</a:t>
            </a:r>
          </a:p>
        </p:txBody>
      </p:sp>
      <p:sp>
        <p:nvSpPr>
          <p:cNvPr id="39" name="Rounded Rectangle 38"/>
          <p:cNvSpPr/>
          <p:nvPr/>
        </p:nvSpPr>
        <p:spPr>
          <a:xfrm>
            <a:off x="6227064" y="4754880"/>
            <a:ext cx="5504688" cy="1517904"/>
          </a:xfrm>
          <a:prstGeom prst="roundRect">
            <a:avLst>
              <a:gd name="adj" fmla="val 8000"/>
            </a:avLst>
          </a:prstGeom>
          <a:solidFill>
            <a:srgbClr val="F7F2E8"/>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91656" y="4846320"/>
            <a:ext cx="5175504" cy="219456"/>
          </a:xfrm>
          <a:prstGeom prst="rect">
            <a:avLst/>
          </a:prstGeom>
          <a:noFill/>
        </p:spPr>
        <p:txBody>
          <a:bodyPr wrap="square" anchor="t">
            <a:spAutoFit/>
          </a:bodyPr>
          <a:lstStyle/>
          <a:p>
            <a:pPr algn="l">
              <a:lnSpc>
                <a:spcPct val="100000"/>
              </a:lnSpc>
            </a:pPr>
            <a:r>
              <a:rPr sz="1200" b="1" i="0">
                <a:solidFill>
                  <a:srgbClr val="1F2A37"/>
                </a:solidFill>
                <a:latin typeface="Calibri"/>
              </a:rPr>
              <a:t>Boundary of this description</a:t>
            </a:r>
          </a:p>
        </p:txBody>
      </p:sp>
      <p:sp>
        <p:nvSpPr>
          <p:cNvPr id="41" name="TextBox 40"/>
          <p:cNvSpPr txBox="1"/>
          <p:nvPr/>
        </p:nvSpPr>
        <p:spPr>
          <a:xfrm>
            <a:off x="6391656" y="5102352"/>
            <a:ext cx="5175504" cy="1078992"/>
          </a:xfrm>
          <a:prstGeom prst="rect">
            <a:avLst/>
          </a:prstGeom>
          <a:noFill/>
        </p:spPr>
        <p:txBody>
          <a:bodyPr wrap="square" anchor="t">
            <a:spAutoFit/>
          </a:bodyPr>
          <a:lstStyle/>
          <a:p>
            <a:pPr algn="l">
              <a:lnSpc>
                <a:spcPct val="114000"/>
              </a:lnSpc>
            </a:pPr>
            <a:r>
              <a:rPr sz="900" b="0" i="0">
                <a:solidFill>
                  <a:srgbClr val="5B6B7A"/>
                </a:solidFill>
                <a:latin typeface="Calibri"/>
              </a:rPr>
              <a:t>Operations 2-4 are corrections layered on implicit diffusion sampling; they are not part of the learned denoiser and they alter the output distribution.</a:t>
            </a:r>
          </a:p>
          <a:p>
            <a:pPr algn="l">
              <a:lnSpc>
                <a:spcPct val="114000"/>
              </a:lnSpc>
            </a:pPr>
            <a:r>
              <a:rPr sz="900" b="0" i="0">
                <a:solidFill>
                  <a:srgbClr val="5B6B7A"/>
                </a:solidFill>
                <a:latin typeface="Calibri"/>
              </a:rPr>
              <a:t>Finite alternating projections do not establish exact simultaneous satisfaction of every constraint, and this sequence is not a validated graph ablation.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88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01168"/>
            <a:ext cx="11247120" cy="365760"/>
          </a:xfrm>
          <a:prstGeom prst="rect">
            <a:avLst/>
          </a:prstGeom>
          <a:noFill/>
        </p:spPr>
        <p:txBody>
          <a:bodyPr wrap="square" anchor="t">
            <a:spAutoFit/>
          </a:bodyPr>
          <a:lstStyle/>
          <a:p>
            <a:pPr algn="l">
              <a:lnSpc>
                <a:spcPct val="100000"/>
              </a:lnSpc>
            </a:pPr>
            <a:r>
              <a:rPr sz="2200" b="1" i="0">
                <a:solidFill>
                  <a:srgbClr val="1F2A37"/>
                </a:solidFill>
                <a:latin typeface="Calibri"/>
              </a:rPr>
              <a:t>Graph regularization ablation — four matched configurations</a:t>
            </a:r>
          </a:p>
        </p:txBody>
      </p:sp>
      <p:sp>
        <p:nvSpPr>
          <p:cNvPr id="4" name="TextBox 3"/>
          <p:cNvSpPr txBox="1"/>
          <p:nvPr/>
        </p:nvSpPr>
        <p:spPr>
          <a:xfrm>
            <a:off x="457200" y="640080"/>
            <a:ext cx="11247120" cy="310896"/>
          </a:xfrm>
          <a:prstGeom prst="rect">
            <a:avLst/>
          </a:prstGeom>
          <a:noFill/>
        </p:spPr>
        <p:txBody>
          <a:bodyPr wrap="square" anchor="t">
            <a:spAutoFit/>
          </a:bodyPr>
          <a:lstStyle/>
          <a:p>
            <a:pPr algn="l">
              <a:lnSpc>
                <a:spcPct val="100000"/>
              </a:lnSpc>
            </a:pPr>
            <a:r>
              <a:rPr sz="1050" b="0" i="0">
                <a:solidFill>
                  <a:srgbClr val="5B6B7A"/>
                </a:solidFill>
                <a:latin typeface="Calibri"/>
              </a:rPr>
              <a:t>Every factor except the graph mechanism is held fixed: the same data, chronological split, mask schedule, fitting seeds, epoch count and checkpoint-selection rule. The graph mechanism has a training part and a sampling part, so each is removed separately.</a:t>
            </a:r>
          </a:p>
        </p:txBody>
      </p:sp>
      <p:sp>
        <p:nvSpPr>
          <p:cNvPr id="5" name="Rectangle 4"/>
          <p:cNvSpPr/>
          <p:nvPr/>
        </p:nvSpPr>
        <p:spPr>
          <a:xfrm>
            <a:off x="457200" y="1060704"/>
            <a:ext cx="2148840" cy="475488"/>
          </a:xfrm>
          <a:prstGeom prst="rect">
            <a:avLst/>
          </a:prstGeom>
          <a:solidFill>
            <a:srgbClr val="E3EAEF"/>
          </a:solidFill>
          <a:ln w="762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12064" y="1106424"/>
            <a:ext cx="2039112" cy="402336"/>
          </a:xfrm>
          <a:prstGeom prst="rect">
            <a:avLst/>
          </a:prstGeom>
          <a:noFill/>
        </p:spPr>
        <p:txBody>
          <a:bodyPr wrap="square" anchor="t">
            <a:spAutoFit/>
          </a:bodyPr>
          <a:lstStyle/>
          <a:p>
            <a:pPr algn="l">
              <a:lnSpc>
                <a:spcPct val="102000"/>
              </a:lnSpc>
            </a:pPr>
            <a:r>
              <a:rPr sz="850" b="1" i="0">
                <a:solidFill>
                  <a:srgbClr val="1F2A37"/>
                </a:solidFill>
                <a:latin typeface="Calibri"/>
              </a:rPr>
              <a:t>Configuration</a:t>
            </a:r>
          </a:p>
        </p:txBody>
      </p:sp>
      <p:sp>
        <p:nvSpPr>
          <p:cNvPr id="7" name="Rectangle 6"/>
          <p:cNvSpPr/>
          <p:nvPr/>
        </p:nvSpPr>
        <p:spPr>
          <a:xfrm>
            <a:off x="2606040" y="1060704"/>
            <a:ext cx="2148840" cy="475488"/>
          </a:xfrm>
          <a:prstGeom prst="rect">
            <a:avLst/>
          </a:prstGeom>
          <a:solidFill>
            <a:srgbClr val="E3EAEF"/>
          </a:solidFill>
          <a:ln w="762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660904" y="1106424"/>
            <a:ext cx="2039112" cy="402336"/>
          </a:xfrm>
          <a:prstGeom prst="rect">
            <a:avLst/>
          </a:prstGeom>
          <a:noFill/>
        </p:spPr>
        <p:txBody>
          <a:bodyPr wrap="square" anchor="t">
            <a:spAutoFit/>
          </a:bodyPr>
          <a:lstStyle/>
          <a:p>
            <a:pPr algn="l">
              <a:lnSpc>
                <a:spcPct val="102000"/>
              </a:lnSpc>
            </a:pPr>
            <a:r>
              <a:rPr sz="850" b="1" i="0">
                <a:solidFill>
                  <a:srgbClr val="1F2A37"/>
                </a:solidFill>
                <a:latin typeface="Calibri"/>
              </a:rPr>
              <a:t>Structural penalty</a:t>
            </a:r>
          </a:p>
          <a:p>
            <a:pPr algn="l">
              <a:lnSpc>
                <a:spcPct val="102000"/>
              </a:lnSpc>
            </a:pPr>
            <a:r>
              <a:rPr sz="850" b="1" i="0">
                <a:solidFill>
                  <a:srgbClr val="1F2A37"/>
                </a:solidFill>
                <a:latin typeface="Calibri"/>
              </a:rPr>
              <a:t>(training loss)</a:t>
            </a:r>
          </a:p>
        </p:txBody>
      </p:sp>
      <p:sp>
        <p:nvSpPr>
          <p:cNvPr id="9" name="Rectangle 8"/>
          <p:cNvSpPr/>
          <p:nvPr/>
        </p:nvSpPr>
        <p:spPr>
          <a:xfrm>
            <a:off x="4754880" y="1060704"/>
            <a:ext cx="2926080" cy="475488"/>
          </a:xfrm>
          <a:prstGeom prst="rect">
            <a:avLst/>
          </a:prstGeom>
          <a:solidFill>
            <a:srgbClr val="E3EAEF"/>
          </a:solidFill>
          <a:ln w="762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09744" y="1106424"/>
            <a:ext cx="2816352" cy="402336"/>
          </a:xfrm>
          <a:prstGeom prst="rect">
            <a:avLst/>
          </a:prstGeom>
          <a:noFill/>
        </p:spPr>
        <p:txBody>
          <a:bodyPr wrap="square" anchor="t">
            <a:spAutoFit/>
          </a:bodyPr>
          <a:lstStyle/>
          <a:p>
            <a:pPr algn="l">
              <a:lnSpc>
                <a:spcPct val="102000"/>
              </a:lnSpc>
            </a:pPr>
            <a:r>
              <a:rPr sz="850" b="1" i="0">
                <a:solidFill>
                  <a:srgbClr val="1F2A37"/>
                </a:solidFill>
                <a:latin typeface="Calibri"/>
              </a:rPr>
              <a:t>Graph boundary +</a:t>
            </a:r>
          </a:p>
          <a:p>
            <a:pPr algn="l">
              <a:lnSpc>
                <a:spcPct val="102000"/>
              </a:lnSpc>
            </a:pPr>
            <a:r>
              <a:rPr sz="850" b="1" i="0">
                <a:solidFill>
                  <a:srgbClr val="1F2A37"/>
                </a:solidFill>
                <a:latin typeface="Calibri"/>
              </a:rPr>
              <a:t>spatial blends (sampling)</a:t>
            </a:r>
          </a:p>
        </p:txBody>
      </p:sp>
      <p:sp>
        <p:nvSpPr>
          <p:cNvPr id="11" name="Rectangle 10"/>
          <p:cNvSpPr/>
          <p:nvPr/>
        </p:nvSpPr>
        <p:spPr>
          <a:xfrm>
            <a:off x="7680960" y="1060704"/>
            <a:ext cx="3017520" cy="475488"/>
          </a:xfrm>
          <a:prstGeom prst="rect">
            <a:avLst/>
          </a:prstGeom>
          <a:solidFill>
            <a:srgbClr val="E3EAEF"/>
          </a:solidFill>
          <a:ln w="762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35824" y="1106424"/>
            <a:ext cx="2907792" cy="402336"/>
          </a:xfrm>
          <a:prstGeom prst="rect">
            <a:avLst/>
          </a:prstGeom>
          <a:noFill/>
        </p:spPr>
        <p:txBody>
          <a:bodyPr wrap="square" anchor="t">
            <a:spAutoFit/>
          </a:bodyPr>
          <a:lstStyle/>
          <a:p>
            <a:pPr algn="l">
              <a:lnSpc>
                <a:spcPct val="102000"/>
              </a:lnSpc>
            </a:pPr>
            <a:r>
              <a:rPr sz="850" b="1" i="0">
                <a:solidFill>
                  <a:srgbClr val="1F2A37"/>
                </a:solidFill>
                <a:latin typeface="Calibri"/>
              </a:rPr>
              <a:t>What it isolates</a:t>
            </a:r>
          </a:p>
        </p:txBody>
      </p:sp>
      <p:sp>
        <p:nvSpPr>
          <p:cNvPr id="13" name="Rectangle 12"/>
          <p:cNvSpPr/>
          <p:nvPr/>
        </p:nvSpPr>
        <p:spPr>
          <a:xfrm>
            <a:off x="457200" y="1536192"/>
            <a:ext cx="214884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581912"/>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A  Full</a:t>
            </a:r>
          </a:p>
        </p:txBody>
      </p:sp>
      <p:sp>
        <p:nvSpPr>
          <p:cNvPr id="15" name="Rectangle 14"/>
          <p:cNvSpPr/>
          <p:nvPr/>
        </p:nvSpPr>
        <p:spPr>
          <a:xfrm>
            <a:off x="2606040" y="1536192"/>
            <a:ext cx="214884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60904" y="1581912"/>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0.05</a:t>
            </a:r>
          </a:p>
        </p:txBody>
      </p:sp>
      <p:sp>
        <p:nvSpPr>
          <p:cNvPr id="17" name="Rectangle 16"/>
          <p:cNvSpPr/>
          <p:nvPr/>
        </p:nvSpPr>
        <p:spPr>
          <a:xfrm>
            <a:off x="4754880" y="1536192"/>
            <a:ext cx="292608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09744" y="1581912"/>
            <a:ext cx="2816352" cy="237744"/>
          </a:xfrm>
          <a:prstGeom prst="rect">
            <a:avLst/>
          </a:prstGeom>
          <a:noFill/>
        </p:spPr>
        <p:txBody>
          <a:bodyPr wrap="square" anchor="t">
            <a:spAutoFit/>
          </a:bodyPr>
          <a:lstStyle/>
          <a:p>
            <a:pPr algn="l">
              <a:lnSpc>
                <a:spcPct val="100000"/>
              </a:lnSpc>
            </a:pPr>
            <a:r>
              <a:rPr sz="850" b="0" i="0">
                <a:solidFill>
                  <a:srgbClr val="1F2A37"/>
                </a:solidFill>
                <a:latin typeface="Calibri"/>
              </a:rPr>
              <a:t>strength 0.15, blends 0.25</a:t>
            </a:r>
          </a:p>
        </p:txBody>
      </p:sp>
      <p:sp>
        <p:nvSpPr>
          <p:cNvPr id="19" name="Rectangle 18"/>
          <p:cNvSpPr/>
          <p:nvPr/>
        </p:nvSpPr>
        <p:spPr>
          <a:xfrm>
            <a:off x="7680960" y="1536192"/>
            <a:ext cx="301752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35824" y="1581912"/>
            <a:ext cx="2907792" cy="237744"/>
          </a:xfrm>
          <a:prstGeom prst="rect">
            <a:avLst/>
          </a:prstGeom>
          <a:noFill/>
        </p:spPr>
        <p:txBody>
          <a:bodyPr wrap="square" anchor="t">
            <a:spAutoFit/>
          </a:bodyPr>
          <a:lstStyle/>
          <a:p>
            <a:pPr algn="l">
              <a:lnSpc>
                <a:spcPct val="100000"/>
              </a:lnSpc>
            </a:pPr>
            <a:r>
              <a:rPr sz="850" b="0" i="0">
                <a:solidFill>
                  <a:srgbClr val="5B6B7A"/>
                </a:solidFill>
                <a:latin typeface="Calibri"/>
              </a:rPr>
              <a:t>the evaluated model</a:t>
            </a:r>
          </a:p>
        </p:txBody>
      </p:sp>
      <p:sp>
        <p:nvSpPr>
          <p:cNvPr id="21" name="Rectangle 20"/>
          <p:cNvSpPr/>
          <p:nvPr/>
        </p:nvSpPr>
        <p:spPr>
          <a:xfrm>
            <a:off x="457200" y="1847088"/>
            <a:ext cx="2148840" cy="310896"/>
          </a:xfrm>
          <a:prstGeom prst="rect">
            <a:avLst/>
          </a:prstGeom>
          <a:solidFill>
            <a:srgbClr val="F7F9F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12064" y="1892808"/>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B  No sampling graph</a:t>
            </a:r>
          </a:p>
        </p:txBody>
      </p:sp>
      <p:sp>
        <p:nvSpPr>
          <p:cNvPr id="23" name="Rectangle 22"/>
          <p:cNvSpPr/>
          <p:nvPr/>
        </p:nvSpPr>
        <p:spPr>
          <a:xfrm>
            <a:off x="2606040" y="1847088"/>
            <a:ext cx="2148840" cy="310896"/>
          </a:xfrm>
          <a:prstGeom prst="rect">
            <a:avLst/>
          </a:prstGeom>
          <a:solidFill>
            <a:srgbClr val="F7F9F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660904" y="1892808"/>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0.05</a:t>
            </a:r>
          </a:p>
        </p:txBody>
      </p:sp>
      <p:sp>
        <p:nvSpPr>
          <p:cNvPr id="25" name="Rectangle 24"/>
          <p:cNvSpPr/>
          <p:nvPr/>
        </p:nvSpPr>
        <p:spPr>
          <a:xfrm>
            <a:off x="4754880" y="1847088"/>
            <a:ext cx="2926080" cy="310896"/>
          </a:xfrm>
          <a:prstGeom prst="rect">
            <a:avLst/>
          </a:prstGeom>
          <a:solidFill>
            <a:srgbClr val="FBEEE6"/>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809744" y="1892808"/>
            <a:ext cx="2816352" cy="237744"/>
          </a:xfrm>
          <a:prstGeom prst="rect">
            <a:avLst/>
          </a:prstGeom>
          <a:noFill/>
        </p:spPr>
        <p:txBody>
          <a:bodyPr wrap="square" anchor="t">
            <a:spAutoFit/>
          </a:bodyPr>
          <a:lstStyle/>
          <a:p>
            <a:pPr algn="l">
              <a:lnSpc>
                <a:spcPct val="100000"/>
              </a:lnSpc>
            </a:pPr>
            <a:r>
              <a:rPr sz="850" b="0" i="0">
                <a:solidFill>
                  <a:srgbClr val="1F2A37"/>
                </a:solidFill>
                <a:latin typeface="Calibri"/>
              </a:rPr>
              <a:t>removed</a:t>
            </a:r>
          </a:p>
        </p:txBody>
      </p:sp>
      <p:sp>
        <p:nvSpPr>
          <p:cNvPr id="27" name="Rectangle 26"/>
          <p:cNvSpPr/>
          <p:nvPr/>
        </p:nvSpPr>
        <p:spPr>
          <a:xfrm>
            <a:off x="7680960" y="1847088"/>
            <a:ext cx="3017520" cy="310896"/>
          </a:xfrm>
          <a:prstGeom prst="rect">
            <a:avLst/>
          </a:prstGeom>
          <a:solidFill>
            <a:srgbClr val="F7F9F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35824" y="1892808"/>
            <a:ext cx="2907792" cy="237744"/>
          </a:xfrm>
          <a:prstGeom prst="rect">
            <a:avLst/>
          </a:prstGeom>
          <a:noFill/>
        </p:spPr>
        <p:txBody>
          <a:bodyPr wrap="square" anchor="t">
            <a:spAutoFit/>
          </a:bodyPr>
          <a:lstStyle/>
          <a:p>
            <a:pPr algn="l">
              <a:lnSpc>
                <a:spcPct val="100000"/>
              </a:lnSpc>
            </a:pPr>
            <a:r>
              <a:rPr sz="850" b="0" i="0">
                <a:solidFill>
                  <a:srgbClr val="5B6B7A"/>
                </a:solidFill>
                <a:latin typeface="Calibri"/>
              </a:rPr>
              <a:t>inference-time graph correction</a:t>
            </a:r>
          </a:p>
        </p:txBody>
      </p:sp>
      <p:sp>
        <p:nvSpPr>
          <p:cNvPr id="29" name="Rectangle 28"/>
          <p:cNvSpPr/>
          <p:nvPr/>
        </p:nvSpPr>
        <p:spPr>
          <a:xfrm>
            <a:off x="457200" y="2157984"/>
            <a:ext cx="214884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 y="2203704"/>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C  No training penalty</a:t>
            </a:r>
          </a:p>
        </p:txBody>
      </p:sp>
      <p:sp>
        <p:nvSpPr>
          <p:cNvPr id="31" name="Rectangle 30"/>
          <p:cNvSpPr/>
          <p:nvPr/>
        </p:nvSpPr>
        <p:spPr>
          <a:xfrm>
            <a:off x="2606040" y="2157984"/>
            <a:ext cx="214884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660904" y="2203704"/>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removed</a:t>
            </a:r>
          </a:p>
        </p:txBody>
      </p:sp>
      <p:sp>
        <p:nvSpPr>
          <p:cNvPr id="33" name="Rectangle 32"/>
          <p:cNvSpPr/>
          <p:nvPr/>
        </p:nvSpPr>
        <p:spPr>
          <a:xfrm>
            <a:off x="4754880" y="2157984"/>
            <a:ext cx="292608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809744" y="2203704"/>
            <a:ext cx="2816352" cy="237744"/>
          </a:xfrm>
          <a:prstGeom prst="rect">
            <a:avLst/>
          </a:prstGeom>
          <a:noFill/>
        </p:spPr>
        <p:txBody>
          <a:bodyPr wrap="square" anchor="t">
            <a:spAutoFit/>
          </a:bodyPr>
          <a:lstStyle/>
          <a:p>
            <a:pPr algn="l">
              <a:lnSpc>
                <a:spcPct val="100000"/>
              </a:lnSpc>
            </a:pPr>
            <a:r>
              <a:rPr sz="850" b="0" i="0">
                <a:solidFill>
                  <a:srgbClr val="1F2A37"/>
                </a:solidFill>
                <a:latin typeface="Calibri"/>
              </a:rPr>
              <a:t>strength 0.15, blends 0.25</a:t>
            </a:r>
          </a:p>
        </p:txBody>
      </p:sp>
      <p:sp>
        <p:nvSpPr>
          <p:cNvPr id="35" name="Rectangle 34"/>
          <p:cNvSpPr/>
          <p:nvPr/>
        </p:nvSpPr>
        <p:spPr>
          <a:xfrm>
            <a:off x="7680960" y="2157984"/>
            <a:ext cx="3017520" cy="310896"/>
          </a:xfrm>
          <a:prstGeom prst="rect">
            <a:avLst/>
          </a:prstGeom>
          <a:solidFill>
            <a:srgbClr val="FFFFFF"/>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35824" y="2203704"/>
            <a:ext cx="2907792" cy="237744"/>
          </a:xfrm>
          <a:prstGeom prst="rect">
            <a:avLst/>
          </a:prstGeom>
          <a:noFill/>
        </p:spPr>
        <p:txBody>
          <a:bodyPr wrap="square" anchor="t">
            <a:spAutoFit/>
          </a:bodyPr>
          <a:lstStyle/>
          <a:p>
            <a:pPr algn="l">
              <a:lnSpc>
                <a:spcPct val="100000"/>
              </a:lnSpc>
            </a:pPr>
            <a:r>
              <a:rPr sz="850" b="0" i="0">
                <a:solidFill>
                  <a:srgbClr val="5B6B7A"/>
                </a:solidFill>
                <a:latin typeface="Calibri"/>
              </a:rPr>
              <a:t>the structural loss term</a:t>
            </a:r>
          </a:p>
        </p:txBody>
      </p:sp>
      <p:sp>
        <p:nvSpPr>
          <p:cNvPr id="37" name="Rectangle 36"/>
          <p:cNvSpPr/>
          <p:nvPr/>
        </p:nvSpPr>
        <p:spPr>
          <a:xfrm>
            <a:off x="457200" y="2468880"/>
            <a:ext cx="2148840" cy="310896"/>
          </a:xfrm>
          <a:prstGeom prst="rect">
            <a:avLst/>
          </a:prstGeom>
          <a:solidFill>
            <a:srgbClr val="F7F9F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2064" y="2514600"/>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D  No graph at all</a:t>
            </a:r>
          </a:p>
        </p:txBody>
      </p:sp>
      <p:sp>
        <p:nvSpPr>
          <p:cNvPr id="39" name="Rectangle 38"/>
          <p:cNvSpPr/>
          <p:nvPr/>
        </p:nvSpPr>
        <p:spPr>
          <a:xfrm>
            <a:off x="2606040" y="2468880"/>
            <a:ext cx="2148840" cy="310896"/>
          </a:xfrm>
          <a:prstGeom prst="rect">
            <a:avLst/>
          </a:prstGeom>
          <a:solidFill>
            <a:srgbClr val="F7F9F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660904" y="2514600"/>
            <a:ext cx="2039112" cy="237744"/>
          </a:xfrm>
          <a:prstGeom prst="rect">
            <a:avLst/>
          </a:prstGeom>
          <a:noFill/>
        </p:spPr>
        <p:txBody>
          <a:bodyPr wrap="square" anchor="t">
            <a:spAutoFit/>
          </a:bodyPr>
          <a:lstStyle/>
          <a:p>
            <a:pPr algn="l">
              <a:lnSpc>
                <a:spcPct val="100000"/>
              </a:lnSpc>
            </a:pPr>
            <a:r>
              <a:rPr sz="850" b="0" i="0">
                <a:solidFill>
                  <a:srgbClr val="1F2A37"/>
                </a:solidFill>
                <a:latin typeface="Calibri"/>
              </a:rPr>
              <a:t>removed</a:t>
            </a:r>
          </a:p>
        </p:txBody>
      </p:sp>
      <p:sp>
        <p:nvSpPr>
          <p:cNvPr id="41" name="Rectangle 40"/>
          <p:cNvSpPr/>
          <p:nvPr/>
        </p:nvSpPr>
        <p:spPr>
          <a:xfrm>
            <a:off x="4754880" y="2468880"/>
            <a:ext cx="2926080" cy="310896"/>
          </a:xfrm>
          <a:prstGeom prst="rect">
            <a:avLst/>
          </a:prstGeom>
          <a:solidFill>
            <a:srgbClr val="FBEEE6"/>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809744" y="2514600"/>
            <a:ext cx="2816352" cy="237744"/>
          </a:xfrm>
          <a:prstGeom prst="rect">
            <a:avLst/>
          </a:prstGeom>
          <a:noFill/>
        </p:spPr>
        <p:txBody>
          <a:bodyPr wrap="square" anchor="t">
            <a:spAutoFit/>
          </a:bodyPr>
          <a:lstStyle/>
          <a:p>
            <a:pPr algn="l">
              <a:lnSpc>
                <a:spcPct val="100000"/>
              </a:lnSpc>
            </a:pPr>
            <a:r>
              <a:rPr sz="850" b="0" i="0">
                <a:solidFill>
                  <a:srgbClr val="1F2A37"/>
                </a:solidFill>
                <a:latin typeface="Calibri"/>
              </a:rPr>
              <a:t>removed</a:t>
            </a:r>
          </a:p>
        </p:txBody>
      </p:sp>
      <p:sp>
        <p:nvSpPr>
          <p:cNvPr id="43" name="Rectangle 42"/>
          <p:cNvSpPr/>
          <p:nvPr/>
        </p:nvSpPr>
        <p:spPr>
          <a:xfrm>
            <a:off x="7680960" y="2468880"/>
            <a:ext cx="3017520" cy="310896"/>
          </a:xfrm>
          <a:prstGeom prst="rect">
            <a:avLst/>
          </a:prstGeom>
          <a:solidFill>
            <a:srgbClr val="F7F9FA"/>
          </a:solidFill>
          <a:ln w="508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735824" y="2514600"/>
            <a:ext cx="2907792" cy="237744"/>
          </a:xfrm>
          <a:prstGeom prst="rect">
            <a:avLst/>
          </a:prstGeom>
          <a:noFill/>
        </p:spPr>
        <p:txBody>
          <a:bodyPr wrap="square" anchor="t">
            <a:spAutoFit/>
          </a:bodyPr>
          <a:lstStyle/>
          <a:p>
            <a:pPr algn="l">
              <a:lnSpc>
                <a:spcPct val="100000"/>
              </a:lnSpc>
            </a:pPr>
            <a:r>
              <a:rPr sz="850" b="0" i="0">
                <a:solidFill>
                  <a:srgbClr val="5B6B7A"/>
                </a:solidFill>
                <a:latin typeface="Calibri"/>
              </a:rPr>
              <a:t>both mechanisms together</a:t>
            </a:r>
          </a:p>
        </p:txBody>
      </p:sp>
      <p:sp>
        <p:nvSpPr>
          <p:cNvPr id="45" name="Rounded Rectangle 44"/>
          <p:cNvSpPr/>
          <p:nvPr/>
        </p:nvSpPr>
        <p:spPr>
          <a:xfrm>
            <a:off x="457200" y="2962656"/>
            <a:ext cx="5641848" cy="1225296"/>
          </a:xfrm>
          <a:prstGeom prst="roundRect">
            <a:avLst>
              <a:gd name="adj" fmla="val 6000"/>
            </a:avLst>
          </a:prstGeom>
          <a:solidFill>
            <a:srgbClr val="F4F7F9"/>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03504" y="3035808"/>
            <a:ext cx="5349240" cy="201168"/>
          </a:xfrm>
          <a:prstGeom prst="rect">
            <a:avLst/>
          </a:prstGeom>
          <a:noFill/>
        </p:spPr>
        <p:txBody>
          <a:bodyPr wrap="square" anchor="t">
            <a:spAutoFit/>
          </a:bodyPr>
          <a:lstStyle/>
          <a:p>
            <a:pPr algn="l">
              <a:lnSpc>
                <a:spcPct val="100000"/>
              </a:lnSpc>
            </a:pPr>
            <a:r>
              <a:rPr sz="1100" b="1" i="0">
                <a:solidFill>
                  <a:srgbClr val="1F2A37"/>
                </a:solidFill>
                <a:latin typeface="Calibri"/>
              </a:rPr>
              <a:t>Held fixed</a:t>
            </a:r>
          </a:p>
        </p:txBody>
      </p:sp>
      <p:sp>
        <p:nvSpPr>
          <p:cNvPr id="47" name="TextBox 46"/>
          <p:cNvSpPr txBox="1"/>
          <p:nvPr/>
        </p:nvSpPr>
        <p:spPr>
          <a:xfrm>
            <a:off x="603504" y="3255264"/>
            <a:ext cx="5349240" cy="877824"/>
          </a:xfrm>
          <a:prstGeom prst="rect">
            <a:avLst/>
          </a:prstGeom>
          <a:noFill/>
        </p:spPr>
        <p:txBody>
          <a:bodyPr wrap="square" anchor="t">
            <a:spAutoFit/>
          </a:bodyPr>
          <a:lstStyle/>
          <a:p>
            <a:pPr algn="l">
              <a:lnSpc>
                <a:spcPct val="110000"/>
              </a:lnSpc>
            </a:pPr>
            <a:r>
              <a:rPr sz="880" b="0" i="0">
                <a:solidFill>
                  <a:srgbClr val="1F2A37"/>
                </a:solidFill>
                <a:latin typeface="Calibri"/>
              </a:rPr>
              <a:t>POWER daily radiation, 20-30 N / 100-110 E</a:t>
            </a:r>
          </a:p>
          <a:p>
            <a:pPr algn="l">
              <a:lnSpc>
                <a:spcPct val="110000"/>
              </a:lnSpc>
            </a:pPr>
            <a:r>
              <a:rPr sz="880" b="0" i="0">
                <a:solidFill>
                  <a:srgbClr val="1F2A37"/>
                </a:solidFill>
                <a:latin typeface="Calibri"/>
              </a:rPr>
              <a:t>fitting 2000-2009, selection 2010, reporting 2011</a:t>
            </a:r>
          </a:p>
          <a:p>
            <a:pPr algn="l">
              <a:lnSpc>
                <a:spcPct val="110000"/>
              </a:lnSpc>
            </a:pPr>
            <a:r>
              <a:rPr sz="880" b="0" i="0">
                <a:solidFill>
                  <a:srgbClr val="1F2A37"/>
                </a:solidFill>
                <a:latin typeface="Calibri"/>
              </a:rPr>
              <a:t>3 fitting seeds (11, 22, 33), 30 epochs each</a:t>
            </a:r>
          </a:p>
          <a:p>
            <a:pPr algn="l">
              <a:lnSpc>
                <a:spcPct val="110000"/>
              </a:lnSpc>
            </a:pPr>
            <a:r>
              <a:rPr sz="880" b="0" i="0">
                <a:solidFill>
                  <a:srgbClr val="1F2A37"/>
                </a:solidFill>
                <a:latin typeface="Calibri"/>
              </a:rPr>
              <a:t>sampling: 12 members, 8-step chunks, 64 steps</a:t>
            </a:r>
          </a:p>
          <a:p>
            <a:pPr algn="l">
              <a:lnSpc>
                <a:spcPct val="110000"/>
              </a:lnSpc>
            </a:pPr>
            <a:r>
              <a:rPr sz="880" b="0" i="0">
                <a:solidFill>
                  <a:srgbClr val="1F2A37"/>
                </a:solidFill>
                <a:latin typeface="Calibri"/>
              </a:rPr>
              <a:t>training curriculum: spatial probability 0.8, missing-cell weight 5.0, gradient weight 0.08</a:t>
            </a:r>
          </a:p>
        </p:txBody>
      </p:sp>
      <p:sp>
        <p:nvSpPr>
          <p:cNvPr id="48" name="Rounded Rectangle 47"/>
          <p:cNvSpPr/>
          <p:nvPr/>
        </p:nvSpPr>
        <p:spPr>
          <a:xfrm>
            <a:off x="6254496" y="2962656"/>
            <a:ext cx="5641848" cy="1225296"/>
          </a:xfrm>
          <a:prstGeom prst="roundRect">
            <a:avLst>
              <a:gd name="adj" fmla="val 6000"/>
            </a:avLst>
          </a:prstGeom>
          <a:solidFill>
            <a:srgbClr val="FBF4EE"/>
          </a:solidFill>
          <a:ln w="127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00800" y="3035808"/>
            <a:ext cx="5349240" cy="201168"/>
          </a:xfrm>
          <a:prstGeom prst="rect">
            <a:avLst/>
          </a:prstGeom>
          <a:noFill/>
        </p:spPr>
        <p:txBody>
          <a:bodyPr wrap="square" anchor="t">
            <a:spAutoFit/>
          </a:bodyPr>
          <a:lstStyle/>
          <a:p>
            <a:pPr algn="l">
              <a:lnSpc>
                <a:spcPct val="100000"/>
              </a:lnSpc>
            </a:pPr>
            <a:r>
              <a:rPr sz="1100" b="1" i="0">
                <a:solidFill>
                  <a:srgbClr val="1F2A37"/>
                </a:solidFill>
                <a:latin typeface="Calibri"/>
              </a:rPr>
              <a:t>What it does not establish</a:t>
            </a:r>
          </a:p>
        </p:txBody>
      </p:sp>
      <p:sp>
        <p:nvSpPr>
          <p:cNvPr id="50" name="TextBox 49"/>
          <p:cNvSpPr txBox="1"/>
          <p:nvPr/>
        </p:nvSpPr>
        <p:spPr>
          <a:xfrm>
            <a:off x="6400800" y="3255264"/>
            <a:ext cx="5349240" cy="877824"/>
          </a:xfrm>
          <a:prstGeom prst="rect">
            <a:avLst/>
          </a:prstGeom>
          <a:noFill/>
        </p:spPr>
        <p:txBody>
          <a:bodyPr wrap="square" anchor="t">
            <a:spAutoFit/>
          </a:bodyPr>
          <a:lstStyle/>
          <a:p>
            <a:pPr algn="l">
              <a:lnSpc>
                <a:spcPct val="110000"/>
              </a:lnSpc>
            </a:pPr>
            <a:r>
              <a:rPr sz="880" b="0" i="0">
                <a:solidFill>
                  <a:srgbClr val="1F2A37"/>
                </a:solidFill>
                <a:latin typeface="Calibri"/>
              </a:rPr>
              <a:t>2011 was inspected during development, so this is a development comparison.</a:t>
            </a:r>
          </a:p>
          <a:p>
            <a:pPr algn="l">
              <a:lnSpc>
                <a:spcPct val="110000"/>
              </a:lnSpc>
            </a:pPr>
            <a:r>
              <a:rPr sz="880" b="0" i="0">
                <a:solidFill>
                  <a:srgbClr val="1F2A37"/>
                </a:solidFill>
                <a:latin typeface="Calibri"/>
              </a:rPr>
              <a:t>One stored mask per month; the bootstrap resamples months, not independent gaps.</a:t>
            </a:r>
          </a:p>
          <a:p>
            <a:pPr algn="l">
              <a:lnSpc>
                <a:spcPct val="110000"/>
              </a:lnSpc>
            </a:pPr>
            <a:r>
              <a:rPr sz="880" b="0" i="0">
                <a:solidFill>
                  <a:srgbClr val="1F2A37"/>
                </a:solidFill>
                <a:latin typeface="Calibri"/>
              </a:rPr>
              <a:t>The graph is the fixed four-neighbour grid: no learned attention, no irregular network.</a:t>
            </a:r>
          </a:p>
          <a:p>
            <a:pPr algn="l">
              <a:lnSpc>
                <a:spcPct val="110000"/>
              </a:lnSpc>
            </a:pPr>
            <a:r>
              <a:rPr sz="880" b="0" i="0">
                <a:solidFill>
                  <a:srgbClr val="1F2A37"/>
                </a:solidFill>
                <a:latin typeface="Calibri"/>
              </a:rPr>
              <a:t>Removing a penalty also changes the effective loss scale; coefficients were not retuned.</a:t>
            </a:r>
          </a:p>
        </p:txBody>
      </p:sp>
      <p:sp>
        <p:nvSpPr>
          <p:cNvPr id="51" name="Rounded Rectangle 50"/>
          <p:cNvSpPr/>
          <p:nvPr/>
        </p:nvSpPr>
        <p:spPr>
          <a:xfrm>
            <a:off x="457200" y="4315968"/>
            <a:ext cx="11439144" cy="1883664"/>
          </a:xfrm>
          <a:prstGeom prst="roundRect">
            <a:avLst>
              <a:gd name="adj" fmla="val 4000"/>
            </a:avLst>
          </a:prstGeom>
          <a:solidFill>
            <a:srgbClr val="FFFFFF"/>
          </a:solidFill>
          <a:ln w="12700">
            <a:solidFill>
              <a:srgbClr val="C3CE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03504" y="4389120"/>
            <a:ext cx="5486400" cy="201168"/>
          </a:xfrm>
          <a:prstGeom prst="rect">
            <a:avLst/>
          </a:prstGeom>
          <a:noFill/>
        </p:spPr>
        <p:txBody>
          <a:bodyPr wrap="square" anchor="t">
            <a:spAutoFit/>
          </a:bodyPr>
          <a:lstStyle/>
          <a:p>
            <a:pPr algn="l">
              <a:lnSpc>
                <a:spcPct val="100000"/>
              </a:lnSpc>
            </a:pPr>
            <a:r>
              <a:rPr sz="1100" b="1" i="0">
                <a:solidFill>
                  <a:srgbClr val="1F2A37"/>
                </a:solidFill>
                <a:latin typeface="Calibri"/>
              </a:rPr>
              <a:t>Results, 2011 reporting cells (547)</a:t>
            </a:r>
          </a:p>
        </p:txBody>
      </p:sp>
      <p:sp>
        <p:nvSpPr>
          <p:cNvPr id="53" name="TextBox 52"/>
          <p:cNvSpPr txBox="1"/>
          <p:nvPr/>
        </p:nvSpPr>
        <p:spPr>
          <a:xfrm>
            <a:off x="6144768" y="4389120"/>
            <a:ext cx="5669280" cy="201168"/>
          </a:xfrm>
          <a:prstGeom prst="rect">
            <a:avLst/>
          </a:prstGeom>
          <a:noFill/>
        </p:spPr>
        <p:txBody>
          <a:bodyPr wrap="square" anchor="t">
            <a:spAutoFit/>
          </a:bodyPr>
          <a:lstStyle/>
          <a:p>
            <a:pPr algn="l">
              <a:lnSpc>
                <a:spcPct val="100000"/>
              </a:lnSpc>
            </a:pPr>
            <a:r>
              <a:rPr sz="1100" b="1" i="0">
                <a:solidFill>
                  <a:srgbClr val="1F2A37"/>
                </a:solidFill>
                <a:latin typeface="Calibri"/>
              </a:rPr>
              <a:t>Grid-graph structure on the same cells</a:t>
            </a:r>
          </a:p>
        </p:txBody>
      </p:sp>
      <p:sp>
        <p:nvSpPr>
          <p:cNvPr id="54" name="TextBox 53"/>
          <p:cNvSpPr txBox="1"/>
          <p:nvPr/>
        </p:nvSpPr>
        <p:spPr>
          <a:xfrm>
            <a:off x="603504" y="4626864"/>
            <a:ext cx="1783080" cy="182880"/>
          </a:xfrm>
          <a:prstGeom prst="rect">
            <a:avLst/>
          </a:prstGeom>
          <a:noFill/>
        </p:spPr>
        <p:txBody>
          <a:bodyPr wrap="square" anchor="t">
            <a:spAutoFit/>
          </a:bodyPr>
          <a:lstStyle/>
          <a:p>
            <a:pPr algn="l">
              <a:lnSpc>
                <a:spcPct val="100000"/>
              </a:lnSpc>
            </a:pPr>
            <a:r>
              <a:rPr sz="850" b="1" i="0">
                <a:solidFill>
                  <a:srgbClr val="5B6B7A"/>
                </a:solidFill>
                <a:latin typeface="Calibri"/>
              </a:rPr>
              <a:t>Configuration</a:t>
            </a:r>
          </a:p>
        </p:txBody>
      </p:sp>
      <p:sp>
        <p:nvSpPr>
          <p:cNvPr id="55" name="TextBox 54"/>
          <p:cNvSpPr txBox="1"/>
          <p:nvPr/>
        </p:nvSpPr>
        <p:spPr>
          <a:xfrm>
            <a:off x="2386584" y="4626864"/>
            <a:ext cx="868680" cy="182880"/>
          </a:xfrm>
          <a:prstGeom prst="rect">
            <a:avLst/>
          </a:prstGeom>
          <a:noFill/>
        </p:spPr>
        <p:txBody>
          <a:bodyPr wrap="square" anchor="t">
            <a:spAutoFit/>
          </a:bodyPr>
          <a:lstStyle/>
          <a:p>
            <a:pPr algn="l">
              <a:lnSpc>
                <a:spcPct val="100000"/>
              </a:lnSpc>
            </a:pPr>
            <a:r>
              <a:rPr sz="850" b="1" i="0">
                <a:solidFill>
                  <a:srgbClr val="5B6B7A"/>
                </a:solidFill>
                <a:latin typeface="Calibri"/>
              </a:rPr>
              <a:t>RMSE</a:t>
            </a:r>
          </a:p>
        </p:txBody>
      </p:sp>
      <p:sp>
        <p:nvSpPr>
          <p:cNvPr id="56" name="TextBox 55"/>
          <p:cNvSpPr txBox="1"/>
          <p:nvPr/>
        </p:nvSpPr>
        <p:spPr>
          <a:xfrm>
            <a:off x="3255264" y="4626864"/>
            <a:ext cx="868680" cy="182880"/>
          </a:xfrm>
          <a:prstGeom prst="rect">
            <a:avLst/>
          </a:prstGeom>
          <a:noFill/>
        </p:spPr>
        <p:txBody>
          <a:bodyPr wrap="square" anchor="t">
            <a:spAutoFit/>
          </a:bodyPr>
          <a:lstStyle/>
          <a:p>
            <a:pPr algn="l">
              <a:lnSpc>
                <a:spcPct val="100000"/>
              </a:lnSpc>
            </a:pPr>
            <a:r>
              <a:rPr sz="850" b="1" i="0">
                <a:solidFill>
                  <a:srgbClr val="5B6B7A"/>
                </a:solidFill>
                <a:latin typeface="Calibri"/>
              </a:rPr>
              <a:t>CRPS</a:t>
            </a:r>
          </a:p>
        </p:txBody>
      </p:sp>
      <p:sp>
        <p:nvSpPr>
          <p:cNvPr id="57" name="TextBox 56"/>
          <p:cNvSpPr txBox="1"/>
          <p:nvPr/>
        </p:nvSpPr>
        <p:spPr>
          <a:xfrm>
            <a:off x="4123944" y="4626864"/>
            <a:ext cx="960120" cy="182880"/>
          </a:xfrm>
          <a:prstGeom prst="rect">
            <a:avLst/>
          </a:prstGeom>
          <a:noFill/>
        </p:spPr>
        <p:txBody>
          <a:bodyPr wrap="square" anchor="t">
            <a:spAutoFit/>
          </a:bodyPr>
          <a:lstStyle/>
          <a:p>
            <a:pPr algn="l">
              <a:lnSpc>
                <a:spcPct val="100000"/>
              </a:lnSpc>
            </a:pPr>
            <a:r>
              <a:rPr sz="850" b="1" i="0">
                <a:solidFill>
                  <a:srgbClr val="5B6B7A"/>
                </a:solidFill>
                <a:latin typeface="Calibri"/>
              </a:rPr>
              <a:t>Cov. 90%</a:t>
            </a:r>
          </a:p>
        </p:txBody>
      </p:sp>
      <p:sp>
        <p:nvSpPr>
          <p:cNvPr id="58" name="TextBox 57"/>
          <p:cNvSpPr txBox="1"/>
          <p:nvPr/>
        </p:nvSpPr>
        <p:spPr>
          <a:xfrm>
            <a:off x="5084064" y="4626864"/>
            <a:ext cx="868680" cy="182880"/>
          </a:xfrm>
          <a:prstGeom prst="rect">
            <a:avLst/>
          </a:prstGeom>
          <a:noFill/>
        </p:spPr>
        <p:txBody>
          <a:bodyPr wrap="square" anchor="t">
            <a:spAutoFit/>
          </a:bodyPr>
          <a:lstStyle/>
          <a:p>
            <a:pPr algn="l">
              <a:lnSpc>
                <a:spcPct val="100000"/>
              </a:lnSpc>
            </a:pPr>
            <a:r>
              <a:rPr sz="850" b="1" i="0">
                <a:solidFill>
                  <a:srgbClr val="5B6B7A"/>
                </a:solidFill>
                <a:latin typeface="Calibri"/>
              </a:rPr>
              <a:t>Edge MAE</a:t>
            </a:r>
          </a:p>
        </p:txBody>
      </p:sp>
      <p:sp>
        <p:nvSpPr>
          <p:cNvPr id="59" name="TextBox 58"/>
          <p:cNvSpPr txBox="1"/>
          <p:nvPr/>
        </p:nvSpPr>
        <p:spPr>
          <a:xfrm>
            <a:off x="5952744" y="4626864"/>
            <a:ext cx="960120" cy="182880"/>
          </a:xfrm>
          <a:prstGeom prst="rect">
            <a:avLst/>
          </a:prstGeom>
          <a:noFill/>
        </p:spPr>
        <p:txBody>
          <a:bodyPr wrap="square" anchor="t">
            <a:spAutoFit/>
          </a:bodyPr>
          <a:lstStyle/>
          <a:p>
            <a:pPr algn="l">
              <a:lnSpc>
                <a:spcPct val="100000"/>
              </a:lnSpc>
            </a:pPr>
            <a:r>
              <a:rPr sz="850" b="1" i="0">
                <a:solidFill>
                  <a:srgbClr val="5B6B7A"/>
                </a:solidFill>
                <a:latin typeface="Calibri"/>
              </a:rPr>
              <a:t>Lap. MAE</a:t>
            </a:r>
          </a:p>
        </p:txBody>
      </p:sp>
      <p:sp>
        <p:nvSpPr>
          <p:cNvPr id="60" name="TextBox 59"/>
          <p:cNvSpPr txBox="1"/>
          <p:nvPr/>
        </p:nvSpPr>
        <p:spPr>
          <a:xfrm>
            <a:off x="603504" y="4828032"/>
            <a:ext cx="1783080" cy="201168"/>
          </a:xfrm>
          <a:prstGeom prst="rect">
            <a:avLst/>
          </a:prstGeom>
          <a:noFill/>
        </p:spPr>
        <p:txBody>
          <a:bodyPr wrap="square" anchor="t">
            <a:spAutoFit/>
          </a:bodyPr>
          <a:lstStyle/>
          <a:p>
            <a:pPr algn="l">
              <a:lnSpc>
                <a:spcPct val="100000"/>
              </a:lnSpc>
            </a:pPr>
            <a:r>
              <a:rPr sz="880" b="0" i="0">
                <a:solidFill>
                  <a:srgbClr val="1F2A37"/>
                </a:solidFill>
                <a:latin typeface="Calibri"/>
              </a:rPr>
              <a:t>A  Full</a:t>
            </a:r>
          </a:p>
        </p:txBody>
      </p:sp>
      <p:sp>
        <p:nvSpPr>
          <p:cNvPr id="61" name="TextBox 60"/>
          <p:cNvSpPr txBox="1"/>
          <p:nvPr/>
        </p:nvSpPr>
        <p:spPr>
          <a:xfrm>
            <a:off x="2386584" y="4828032"/>
            <a:ext cx="868680" cy="201168"/>
          </a:xfrm>
          <a:prstGeom prst="rect">
            <a:avLst/>
          </a:prstGeom>
          <a:noFill/>
        </p:spPr>
        <p:txBody>
          <a:bodyPr wrap="square" anchor="t">
            <a:spAutoFit/>
          </a:bodyPr>
          <a:lstStyle/>
          <a:p>
            <a:pPr algn="l">
              <a:lnSpc>
                <a:spcPct val="100000"/>
              </a:lnSpc>
            </a:pPr>
            <a:r>
              <a:rPr sz="880" b="1" i="0">
                <a:solidFill>
                  <a:srgbClr val="1F2A37"/>
                </a:solidFill>
                <a:latin typeface="Calibri"/>
              </a:rPr>
              <a:t>29.76</a:t>
            </a:r>
          </a:p>
        </p:txBody>
      </p:sp>
      <p:sp>
        <p:nvSpPr>
          <p:cNvPr id="62" name="TextBox 61"/>
          <p:cNvSpPr txBox="1"/>
          <p:nvPr/>
        </p:nvSpPr>
        <p:spPr>
          <a:xfrm>
            <a:off x="3255264" y="4828032"/>
            <a:ext cx="868680" cy="201168"/>
          </a:xfrm>
          <a:prstGeom prst="rect">
            <a:avLst/>
          </a:prstGeom>
          <a:noFill/>
        </p:spPr>
        <p:txBody>
          <a:bodyPr wrap="square" anchor="t">
            <a:spAutoFit/>
          </a:bodyPr>
          <a:lstStyle/>
          <a:p>
            <a:pPr algn="l">
              <a:lnSpc>
                <a:spcPct val="100000"/>
              </a:lnSpc>
            </a:pPr>
            <a:r>
              <a:rPr sz="880" b="1" i="0">
                <a:solidFill>
                  <a:srgbClr val="1F2A37"/>
                </a:solidFill>
                <a:latin typeface="Calibri"/>
              </a:rPr>
              <a:t>17.56</a:t>
            </a:r>
          </a:p>
        </p:txBody>
      </p:sp>
      <p:sp>
        <p:nvSpPr>
          <p:cNvPr id="63" name="TextBox 62"/>
          <p:cNvSpPr txBox="1"/>
          <p:nvPr/>
        </p:nvSpPr>
        <p:spPr>
          <a:xfrm>
            <a:off x="4123944" y="4828032"/>
            <a:ext cx="960120" cy="201168"/>
          </a:xfrm>
          <a:prstGeom prst="rect">
            <a:avLst/>
          </a:prstGeom>
          <a:noFill/>
        </p:spPr>
        <p:txBody>
          <a:bodyPr wrap="square" anchor="t">
            <a:spAutoFit/>
          </a:bodyPr>
          <a:lstStyle/>
          <a:p>
            <a:pPr algn="l">
              <a:lnSpc>
                <a:spcPct val="100000"/>
              </a:lnSpc>
            </a:pPr>
            <a:r>
              <a:rPr sz="880" b="1" i="0">
                <a:solidFill>
                  <a:srgbClr val="1F2A37"/>
                </a:solidFill>
                <a:latin typeface="Calibri"/>
              </a:rPr>
              <a:t>79.1%</a:t>
            </a:r>
          </a:p>
        </p:txBody>
      </p:sp>
      <p:sp>
        <p:nvSpPr>
          <p:cNvPr id="64" name="TextBox 63"/>
          <p:cNvSpPr txBox="1"/>
          <p:nvPr/>
        </p:nvSpPr>
        <p:spPr>
          <a:xfrm>
            <a:off x="5084064" y="4828032"/>
            <a:ext cx="868680" cy="201168"/>
          </a:xfrm>
          <a:prstGeom prst="rect">
            <a:avLst/>
          </a:prstGeom>
          <a:noFill/>
        </p:spPr>
        <p:txBody>
          <a:bodyPr wrap="square" anchor="t">
            <a:spAutoFit/>
          </a:bodyPr>
          <a:lstStyle/>
          <a:p>
            <a:pPr algn="l">
              <a:lnSpc>
                <a:spcPct val="100000"/>
              </a:lnSpc>
            </a:pPr>
            <a:r>
              <a:rPr sz="880" b="1" i="0">
                <a:solidFill>
                  <a:srgbClr val="1F2A37"/>
                </a:solidFill>
                <a:latin typeface="Calibri"/>
              </a:rPr>
              <a:t>20.04</a:t>
            </a:r>
          </a:p>
        </p:txBody>
      </p:sp>
      <p:sp>
        <p:nvSpPr>
          <p:cNvPr id="65" name="TextBox 64"/>
          <p:cNvSpPr txBox="1"/>
          <p:nvPr/>
        </p:nvSpPr>
        <p:spPr>
          <a:xfrm>
            <a:off x="5952744" y="4828032"/>
            <a:ext cx="960120" cy="201168"/>
          </a:xfrm>
          <a:prstGeom prst="rect">
            <a:avLst/>
          </a:prstGeom>
          <a:noFill/>
        </p:spPr>
        <p:txBody>
          <a:bodyPr wrap="square" anchor="t">
            <a:spAutoFit/>
          </a:bodyPr>
          <a:lstStyle/>
          <a:p>
            <a:pPr algn="l">
              <a:lnSpc>
                <a:spcPct val="100000"/>
              </a:lnSpc>
            </a:pPr>
            <a:r>
              <a:rPr sz="880" b="1" i="0">
                <a:solidFill>
                  <a:srgbClr val="1F2A37"/>
                </a:solidFill>
                <a:latin typeface="Calibri"/>
              </a:rPr>
              <a:t>50.67</a:t>
            </a:r>
          </a:p>
        </p:txBody>
      </p:sp>
      <p:sp>
        <p:nvSpPr>
          <p:cNvPr id="66" name="TextBox 65"/>
          <p:cNvSpPr txBox="1"/>
          <p:nvPr/>
        </p:nvSpPr>
        <p:spPr>
          <a:xfrm>
            <a:off x="603504" y="5047488"/>
            <a:ext cx="1783080" cy="201168"/>
          </a:xfrm>
          <a:prstGeom prst="rect">
            <a:avLst/>
          </a:prstGeom>
          <a:noFill/>
        </p:spPr>
        <p:txBody>
          <a:bodyPr wrap="square" anchor="t">
            <a:spAutoFit/>
          </a:bodyPr>
          <a:lstStyle/>
          <a:p>
            <a:pPr algn="l">
              <a:lnSpc>
                <a:spcPct val="100000"/>
              </a:lnSpc>
            </a:pPr>
            <a:r>
              <a:rPr sz="880" b="0" i="0">
                <a:solidFill>
                  <a:srgbClr val="1F2A37"/>
                </a:solidFill>
                <a:latin typeface="Calibri"/>
              </a:rPr>
              <a:t>B  No sampling graph</a:t>
            </a:r>
          </a:p>
        </p:txBody>
      </p:sp>
      <p:sp>
        <p:nvSpPr>
          <p:cNvPr id="67" name="TextBox 66"/>
          <p:cNvSpPr txBox="1"/>
          <p:nvPr/>
        </p:nvSpPr>
        <p:spPr>
          <a:xfrm>
            <a:off x="2386584" y="5047488"/>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29.83</a:t>
            </a:r>
          </a:p>
        </p:txBody>
      </p:sp>
      <p:sp>
        <p:nvSpPr>
          <p:cNvPr id="68" name="TextBox 67"/>
          <p:cNvSpPr txBox="1"/>
          <p:nvPr/>
        </p:nvSpPr>
        <p:spPr>
          <a:xfrm>
            <a:off x="3255264" y="5047488"/>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17.60</a:t>
            </a:r>
          </a:p>
        </p:txBody>
      </p:sp>
      <p:sp>
        <p:nvSpPr>
          <p:cNvPr id="69" name="TextBox 68"/>
          <p:cNvSpPr txBox="1"/>
          <p:nvPr/>
        </p:nvSpPr>
        <p:spPr>
          <a:xfrm>
            <a:off x="4123944" y="5047488"/>
            <a:ext cx="960120" cy="201168"/>
          </a:xfrm>
          <a:prstGeom prst="rect">
            <a:avLst/>
          </a:prstGeom>
          <a:noFill/>
        </p:spPr>
        <p:txBody>
          <a:bodyPr wrap="square" anchor="t">
            <a:spAutoFit/>
          </a:bodyPr>
          <a:lstStyle/>
          <a:p>
            <a:pPr algn="l">
              <a:lnSpc>
                <a:spcPct val="100000"/>
              </a:lnSpc>
            </a:pPr>
            <a:r>
              <a:rPr sz="880" b="0" i="0">
                <a:solidFill>
                  <a:srgbClr val="1F2A37"/>
                </a:solidFill>
                <a:latin typeface="Calibri"/>
              </a:rPr>
              <a:t>79.3%</a:t>
            </a:r>
          </a:p>
        </p:txBody>
      </p:sp>
      <p:sp>
        <p:nvSpPr>
          <p:cNvPr id="70" name="TextBox 69"/>
          <p:cNvSpPr txBox="1"/>
          <p:nvPr/>
        </p:nvSpPr>
        <p:spPr>
          <a:xfrm>
            <a:off x="5084064" y="5047488"/>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20.12</a:t>
            </a:r>
          </a:p>
        </p:txBody>
      </p:sp>
      <p:sp>
        <p:nvSpPr>
          <p:cNvPr id="71" name="TextBox 70"/>
          <p:cNvSpPr txBox="1"/>
          <p:nvPr/>
        </p:nvSpPr>
        <p:spPr>
          <a:xfrm>
            <a:off x="5952744" y="5047488"/>
            <a:ext cx="960120" cy="201168"/>
          </a:xfrm>
          <a:prstGeom prst="rect">
            <a:avLst/>
          </a:prstGeom>
          <a:noFill/>
        </p:spPr>
        <p:txBody>
          <a:bodyPr wrap="square" anchor="t">
            <a:spAutoFit/>
          </a:bodyPr>
          <a:lstStyle/>
          <a:p>
            <a:pPr algn="l">
              <a:lnSpc>
                <a:spcPct val="100000"/>
              </a:lnSpc>
            </a:pPr>
            <a:r>
              <a:rPr sz="880" b="0" i="0">
                <a:solidFill>
                  <a:srgbClr val="1F2A37"/>
                </a:solidFill>
                <a:latin typeface="Calibri"/>
              </a:rPr>
              <a:t>50.84</a:t>
            </a:r>
          </a:p>
        </p:txBody>
      </p:sp>
      <p:sp>
        <p:nvSpPr>
          <p:cNvPr id="72" name="TextBox 71"/>
          <p:cNvSpPr txBox="1"/>
          <p:nvPr/>
        </p:nvSpPr>
        <p:spPr>
          <a:xfrm>
            <a:off x="603504" y="5266944"/>
            <a:ext cx="1783080" cy="201168"/>
          </a:xfrm>
          <a:prstGeom prst="rect">
            <a:avLst/>
          </a:prstGeom>
          <a:noFill/>
        </p:spPr>
        <p:txBody>
          <a:bodyPr wrap="square" anchor="t">
            <a:spAutoFit/>
          </a:bodyPr>
          <a:lstStyle/>
          <a:p>
            <a:pPr algn="l">
              <a:lnSpc>
                <a:spcPct val="100000"/>
              </a:lnSpc>
            </a:pPr>
            <a:r>
              <a:rPr sz="880" b="0" i="0">
                <a:solidFill>
                  <a:srgbClr val="1F2A37"/>
                </a:solidFill>
                <a:latin typeface="Calibri"/>
              </a:rPr>
              <a:t>C  No training penalty</a:t>
            </a:r>
          </a:p>
        </p:txBody>
      </p:sp>
      <p:sp>
        <p:nvSpPr>
          <p:cNvPr id="73" name="TextBox 72"/>
          <p:cNvSpPr txBox="1"/>
          <p:nvPr/>
        </p:nvSpPr>
        <p:spPr>
          <a:xfrm>
            <a:off x="2386584" y="5266944"/>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29.75</a:t>
            </a:r>
          </a:p>
        </p:txBody>
      </p:sp>
      <p:sp>
        <p:nvSpPr>
          <p:cNvPr id="74" name="TextBox 73"/>
          <p:cNvSpPr txBox="1"/>
          <p:nvPr/>
        </p:nvSpPr>
        <p:spPr>
          <a:xfrm>
            <a:off x="3255264" y="5266944"/>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17.55</a:t>
            </a:r>
          </a:p>
        </p:txBody>
      </p:sp>
      <p:sp>
        <p:nvSpPr>
          <p:cNvPr id="75" name="TextBox 74"/>
          <p:cNvSpPr txBox="1"/>
          <p:nvPr/>
        </p:nvSpPr>
        <p:spPr>
          <a:xfrm>
            <a:off x="4123944" y="5266944"/>
            <a:ext cx="960120" cy="201168"/>
          </a:xfrm>
          <a:prstGeom prst="rect">
            <a:avLst/>
          </a:prstGeom>
          <a:noFill/>
        </p:spPr>
        <p:txBody>
          <a:bodyPr wrap="square" anchor="t">
            <a:spAutoFit/>
          </a:bodyPr>
          <a:lstStyle/>
          <a:p>
            <a:pPr algn="l">
              <a:lnSpc>
                <a:spcPct val="100000"/>
              </a:lnSpc>
            </a:pPr>
            <a:r>
              <a:rPr sz="880" b="0" i="0">
                <a:solidFill>
                  <a:srgbClr val="1F2A37"/>
                </a:solidFill>
                <a:latin typeface="Calibri"/>
              </a:rPr>
              <a:t>78.8%</a:t>
            </a:r>
          </a:p>
        </p:txBody>
      </p:sp>
      <p:sp>
        <p:nvSpPr>
          <p:cNvPr id="76" name="TextBox 75"/>
          <p:cNvSpPr txBox="1"/>
          <p:nvPr/>
        </p:nvSpPr>
        <p:spPr>
          <a:xfrm>
            <a:off x="5084064" y="5266944"/>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19.98</a:t>
            </a:r>
          </a:p>
        </p:txBody>
      </p:sp>
      <p:sp>
        <p:nvSpPr>
          <p:cNvPr id="77" name="TextBox 76"/>
          <p:cNvSpPr txBox="1"/>
          <p:nvPr/>
        </p:nvSpPr>
        <p:spPr>
          <a:xfrm>
            <a:off x="5952744" y="5266944"/>
            <a:ext cx="960120" cy="201168"/>
          </a:xfrm>
          <a:prstGeom prst="rect">
            <a:avLst/>
          </a:prstGeom>
          <a:noFill/>
        </p:spPr>
        <p:txBody>
          <a:bodyPr wrap="square" anchor="t">
            <a:spAutoFit/>
          </a:bodyPr>
          <a:lstStyle/>
          <a:p>
            <a:pPr algn="l">
              <a:lnSpc>
                <a:spcPct val="100000"/>
              </a:lnSpc>
            </a:pPr>
            <a:r>
              <a:rPr sz="880" b="0" i="0">
                <a:solidFill>
                  <a:srgbClr val="1F2A37"/>
                </a:solidFill>
                <a:latin typeface="Calibri"/>
              </a:rPr>
              <a:t>50.41</a:t>
            </a:r>
          </a:p>
        </p:txBody>
      </p:sp>
      <p:sp>
        <p:nvSpPr>
          <p:cNvPr id="78" name="TextBox 77"/>
          <p:cNvSpPr txBox="1"/>
          <p:nvPr/>
        </p:nvSpPr>
        <p:spPr>
          <a:xfrm>
            <a:off x="603504" y="5486400"/>
            <a:ext cx="1783080" cy="201168"/>
          </a:xfrm>
          <a:prstGeom prst="rect">
            <a:avLst/>
          </a:prstGeom>
          <a:noFill/>
        </p:spPr>
        <p:txBody>
          <a:bodyPr wrap="square" anchor="t">
            <a:spAutoFit/>
          </a:bodyPr>
          <a:lstStyle/>
          <a:p>
            <a:pPr algn="l">
              <a:lnSpc>
                <a:spcPct val="100000"/>
              </a:lnSpc>
            </a:pPr>
            <a:r>
              <a:rPr sz="880" b="0" i="0">
                <a:solidFill>
                  <a:srgbClr val="1F2A37"/>
                </a:solidFill>
                <a:latin typeface="Calibri"/>
              </a:rPr>
              <a:t>D  No graph at all</a:t>
            </a:r>
          </a:p>
        </p:txBody>
      </p:sp>
      <p:sp>
        <p:nvSpPr>
          <p:cNvPr id="79" name="TextBox 78"/>
          <p:cNvSpPr txBox="1"/>
          <p:nvPr/>
        </p:nvSpPr>
        <p:spPr>
          <a:xfrm>
            <a:off x="2386584" y="5486400"/>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29.82</a:t>
            </a:r>
          </a:p>
        </p:txBody>
      </p:sp>
      <p:sp>
        <p:nvSpPr>
          <p:cNvPr id="80" name="TextBox 79"/>
          <p:cNvSpPr txBox="1"/>
          <p:nvPr/>
        </p:nvSpPr>
        <p:spPr>
          <a:xfrm>
            <a:off x="3255264" y="5486400"/>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17.59</a:t>
            </a:r>
          </a:p>
        </p:txBody>
      </p:sp>
      <p:sp>
        <p:nvSpPr>
          <p:cNvPr id="81" name="TextBox 80"/>
          <p:cNvSpPr txBox="1"/>
          <p:nvPr/>
        </p:nvSpPr>
        <p:spPr>
          <a:xfrm>
            <a:off x="4123944" y="5486400"/>
            <a:ext cx="960120" cy="201168"/>
          </a:xfrm>
          <a:prstGeom prst="rect">
            <a:avLst/>
          </a:prstGeom>
          <a:noFill/>
        </p:spPr>
        <p:txBody>
          <a:bodyPr wrap="square" anchor="t">
            <a:spAutoFit/>
          </a:bodyPr>
          <a:lstStyle/>
          <a:p>
            <a:pPr algn="l">
              <a:lnSpc>
                <a:spcPct val="100000"/>
              </a:lnSpc>
            </a:pPr>
            <a:r>
              <a:rPr sz="880" b="0" i="0">
                <a:solidFill>
                  <a:srgbClr val="1F2A37"/>
                </a:solidFill>
                <a:latin typeface="Calibri"/>
              </a:rPr>
              <a:t>79.0%</a:t>
            </a:r>
          </a:p>
        </p:txBody>
      </p:sp>
      <p:sp>
        <p:nvSpPr>
          <p:cNvPr id="82" name="TextBox 81"/>
          <p:cNvSpPr txBox="1"/>
          <p:nvPr/>
        </p:nvSpPr>
        <p:spPr>
          <a:xfrm>
            <a:off x="5084064" y="5486400"/>
            <a:ext cx="868680" cy="201168"/>
          </a:xfrm>
          <a:prstGeom prst="rect">
            <a:avLst/>
          </a:prstGeom>
          <a:noFill/>
        </p:spPr>
        <p:txBody>
          <a:bodyPr wrap="square" anchor="t">
            <a:spAutoFit/>
          </a:bodyPr>
          <a:lstStyle/>
          <a:p>
            <a:pPr algn="l">
              <a:lnSpc>
                <a:spcPct val="100000"/>
              </a:lnSpc>
            </a:pPr>
            <a:r>
              <a:rPr sz="880" b="0" i="0">
                <a:solidFill>
                  <a:srgbClr val="1F2A37"/>
                </a:solidFill>
                <a:latin typeface="Calibri"/>
              </a:rPr>
              <a:t>20.06</a:t>
            </a:r>
          </a:p>
        </p:txBody>
      </p:sp>
      <p:sp>
        <p:nvSpPr>
          <p:cNvPr id="83" name="TextBox 82"/>
          <p:cNvSpPr txBox="1"/>
          <p:nvPr/>
        </p:nvSpPr>
        <p:spPr>
          <a:xfrm>
            <a:off x="5952744" y="5486400"/>
            <a:ext cx="960120" cy="201168"/>
          </a:xfrm>
          <a:prstGeom prst="rect">
            <a:avLst/>
          </a:prstGeom>
          <a:noFill/>
        </p:spPr>
        <p:txBody>
          <a:bodyPr wrap="square" anchor="t">
            <a:spAutoFit/>
          </a:bodyPr>
          <a:lstStyle/>
          <a:p>
            <a:pPr algn="l">
              <a:lnSpc>
                <a:spcPct val="100000"/>
              </a:lnSpc>
            </a:pPr>
            <a:r>
              <a:rPr sz="880" b="0" i="0">
                <a:solidFill>
                  <a:srgbClr val="1F2A37"/>
                </a:solidFill>
                <a:latin typeface="Calibri"/>
              </a:rPr>
              <a:t>50.58</a:t>
            </a:r>
          </a:p>
        </p:txBody>
      </p:sp>
      <p:sp>
        <p:nvSpPr>
          <p:cNvPr id="84" name="TextBox 83"/>
          <p:cNvSpPr txBox="1"/>
          <p:nvPr/>
        </p:nvSpPr>
        <p:spPr>
          <a:xfrm>
            <a:off x="603504" y="5779008"/>
            <a:ext cx="11064240" cy="402336"/>
          </a:xfrm>
          <a:prstGeom prst="rect">
            <a:avLst/>
          </a:prstGeom>
          <a:noFill/>
        </p:spPr>
        <p:txBody>
          <a:bodyPr wrap="square" anchor="t">
            <a:spAutoFit/>
          </a:bodyPr>
          <a:lstStyle/>
          <a:p>
            <a:pPr algn="l">
              <a:lnSpc>
                <a:spcPct val="112000"/>
              </a:lnSpc>
            </a:pPr>
            <a:r>
              <a:rPr sz="860" b="0" i="0">
                <a:solidFill>
                  <a:srgbClr val="1F2A37"/>
                </a:solidFill>
                <a:latin typeface="Calibri"/>
              </a:rPr>
              <a:t>Verdict. The four configurations are indistinguishable: RMSE spans 29.75-29.83 W/m2 and CRPS 17.56-17.60, while the between-seed standard deviation inside a single configuration is 1.4 W/m2 in RMSE. Every paired month-block bootstrap interval for full minus ablated touches or straddles zero.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274320"/>
            <a:ext cx="10058400" cy="411480"/>
          </a:xfrm>
          <a:prstGeom prst="rect">
            <a:avLst/>
          </a:prstGeom>
          <a:noFill/>
        </p:spPr>
        <p:txBody>
          <a:bodyPr wrap="square" anchor="t">
            <a:spAutoFit/>
          </a:bodyPr>
          <a:lstStyle/>
          <a:p>
            <a:pPr algn="l">
              <a:lnSpc>
                <a:spcPct val="100000"/>
              </a:lnSpc>
            </a:pPr>
            <a:r>
              <a:rPr sz="2400" b="1" i="0">
                <a:solidFill>
                  <a:srgbClr val="1F2A37"/>
                </a:solidFill>
                <a:latin typeface="Calibri"/>
              </a:rPr>
              <a:t>Provenance and placement for the added figures</a:t>
            </a:r>
          </a:p>
        </p:txBody>
      </p:sp>
      <p:sp>
        <p:nvSpPr>
          <p:cNvPr id="4" name="TextBox 3"/>
          <p:cNvSpPr txBox="1"/>
          <p:nvPr/>
        </p:nvSpPr>
        <p:spPr>
          <a:xfrm>
            <a:off x="502920" y="786384"/>
            <a:ext cx="11155680" cy="274320"/>
          </a:xfrm>
          <a:prstGeom prst="rect">
            <a:avLst/>
          </a:prstGeom>
          <a:noFill/>
        </p:spPr>
        <p:txBody>
          <a:bodyPr wrap="square" anchor="t">
            <a:spAutoFit/>
          </a:bodyPr>
          <a:lstStyle/>
          <a:p>
            <a:pPr algn="l">
              <a:lnSpc>
                <a:spcPct val="100000"/>
              </a:lnSpc>
            </a:pPr>
            <a:r>
              <a:rPr sz="1100" b="0" i="0">
                <a:solidFill>
                  <a:srgbClr val="D55E00"/>
                </a:solidFill>
                <a:latin typeface="Calibri"/>
              </a:rPr>
              <a:t>These figures are new. They are not part of the current eight-figure manuscript and are not yet cited in it.</a:t>
            </a:r>
          </a:p>
        </p:txBody>
      </p:sp>
      <p:graphicFrame>
        <p:nvGraphicFramePr>
          <p:cNvPr id="5" name="Table 4"/>
          <p:cNvGraphicFramePr>
            <a:graphicFrameLocks noGrp="1"/>
          </p:cNvGraphicFramePr>
          <p:nvPr/>
        </p:nvGraphicFramePr>
        <p:xfrm>
          <a:off x="457200" y="1298448"/>
          <a:ext cx="11274552" cy="2574036"/>
        </p:xfrm>
        <a:graphic>
          <a:graphicData uri="http://schemas.openxmlformats.org/drawingml/2006/table">
            <a:tbl>
              <a:tblPr firstRow="1" bandRow="1">
                <a:tableStyleId>{5C22544A-7EE6-4342-B048-85BDC9FD1C3A}</a:tableStyleId>
              </a:tblPr>
              <a:tblGrid>
                <a:gridCol w="685800"/>
                <a:gridCol w="2148840"/>
                <a:gridCol w="2834640"/>
                <a:gridCol w="3776472"/>
                <a:gridCol w="1828800"/>
              </a:tblGrid>
              <a:tr h="434340">
                <a:tc>
                  <a:txBody>
                    <a:bodyPr/>
                    <a:lstStyle/>
                    <a:p>
                      <a:r>
                        <a:rPr sz="1050" b="1">
                          <a:solidFill>
                            <a:srgbClr val="1F2A37"/>
                          </a:solidFill>
                        </a:rPr>
                        <a:t>Figure</a:t>
                      </a:r>
                    </a:p>
                  </a:txBody>
                  <a:tcPr>
                    <a:solidFill>
                      <a:srgbClr val="E3EAEF"/>
                    </a:solidFill>
                  </a:tcPr>
                </a:tc>
                <a:tc>
                  <a:txBody>
                    <a:bodyPr/>
                    <a:lstStyle/>
                    <a:p>
                      <a:r>
                        <a:rPr sz="1050" b="1">
                          <a:solidFill>
                            <a:srgbClr val="1F2A37"/>
                          </a:solidFill>
                        </a:rPr>
                        <a:t>Subject</a:t>
                      </a:r>
                    </a:p>
                  </a:txBody>
                  <a:tcPr>
                    <a:solidFill>
                      <a:srgbClr val="E3EAEF"/>
                    </a:solidFill>
                  </a:tcPr>
                </a:tc>
                <a:tc>
                  <a:txBody>
                    <a:bodyPr/>
                    <a:lstStyle/>
                    <a:p>
                      <a:r>
                        <a:rPr sz="1050" b="1">
                          <a:solidFill>
                            <a:srgbClr val="1F2A37"/>
                          </a:solidFill>
                        </a:rPr>
                        <a:t>Intended placement</a:t>
                      </a:r>
                    </a:p>
                  </a:txBody>
                  <a:tcPr>
                    <a:solidFill>
                      <a:srgbClr val="E3EAEF"/>
                    </a:solidFill>
                  </a:tcPr>
                </a:tc>
                <a:tc>
                  <a:txBody>
                    <a:bodyPr/>
                    <a:lstStyle/>
                    <a:p>
                      <a:r>
                        <a:rPr sz="1050" b="1">
                          <a:solidFill>
                            <a:srgbClr val="1F2A37"/>
                          </a:solidFill>
                        </a:rPr>
                        <a:t>Source of every value shown</a:t>
                      </a:r>
                    </a:p>
                  </a:txBody>
                  <a:tcPr>
                    <a:solidFill>
                      <a:srgbClr val="E3EAEF"/>
                    </a:solidFill>
                  </a:tcPr>
                </a:tc>
                <a:tc>
                  <a:txBody>
                    <a:bodyPr/>
                    <a:lstStyle/>
                    <a:p>
                      <a:r>
                        <a:rPr sz="1050" b="1">
                          <a:solidFill>
                            <a:srgbClr val="1F2A37"/>
                          </a:solidFill>
                        </a:rPr>
                        <a:t>What it does not claim</a:t>
                      </a:r>
                    </a:p>
                  </a:txBody>
                  <a:tcPr>
                    <a:solidFill>
                      <a:srgbClr val="E3EAEF"/>
                    </a:solidFill>
                  </a:tcPr>
                </a:tc>
              </a:tr>
              <a:tr h="713232">
                <a:tc>
                  <a:txBody>
                    <a:bodyPr/>
                    <a:lstStyle/>
                    <a:p>
                      <a:r>
                        <a:rPr sz="950">
                          <a:solidFill>
                            <a:srgbClr val="1F2A37"/>
                          </a:solidFill>
                        </a:rPr>
                        <a:t>G1</a:t>
                      </a:r>
                    </a:p>
                  </a:txBody>
                  <a:tcPr>
                    <a:solidFill>
                      <a:srgbClr val="FFFFFF"/>
                    </a:solidFill>
                  </a:tcPr>
                </a:tc>
                <a:tc>
                  <a:txBody>
                    <a:bodyPr/>
                    <a:lstStyle/>
                    <a:p>
                      <a:r>
                        <a:rPr sz="950">
                          <a:solidFill>
                            <a:srgbClr val="1F2A37"/>
                          </a:solidFill>
                        </a:rPr>
                        <a:t>Missingness regimes</a:t>
                      </a:r>
                    </a:p>
                  </a:txBody>
                  <a:tcPr>
                    <a:solidFill>
                      <a:srgbClr val="FFFFFF"/>
                    </a:solidFill>
                  </a:tcPr>
                </a:tc>
                <a:tc>
                  <a:txBody>
                    <a:bodyPr/>
                    <a:lstStyle/>
                    <a:p>
                      <a:r>
                        <a:rPr sz="950">
                          <a:solidFill>
                            <a:srgbClr val="1F2A37"/>
                          </a:solidFill>
                        </a:rPr>
                        <a:t>Data and evaluation design, after the mask paragraph</a:t>
                      </a:r>
                    </a:p>
                  </a:txBody>
                  <a:tcPr>
                    <a:solidFill>
                      <a:srgbClr val="FFFFFF"/>
                    </a:solidFill>
                  </a:tcPr>
                </a:tc>
                <a:tc>
                  <a:txBody>
                    <a:bodyPr/>
                    <a:lstStyle/>
                    <a:p>
                      <a:r>
                        <a:rPr sz="950">
                          <a:solidFill>
                            <a:srgbClr val="1F2A37"/>
                          </a:solidFill>
                        </a:rPr>
                        <a:t>random_observation_mask in dmgsr.masked_temporal; parameters 1-7 days, 2-5 cells, 0.35 spatial probability</a:t>
                      </a:r>
                    </a:p>
                  </a:txBody>
                  <a:tcPr>
                    <a:solidFill>
                      <a:srgbClr val="FFFFFF"/>
                    </a:solidFill>
                  </a:tcPr>
                </a:tc>
                <a:tc>
                  <a:txBody>
                    <a:bodyPr/>
                    <a:lstStyle/>
                    <a:p>
                      <a:r>
                        <a:rPr sz="950">
                          <a:solidFill>
                            <a:srgbClr val="1F2A37"/>
                          </a:solidFill>
                        </a:rPr>
                        <a:t>Design only; reports no skill</a:t>
                      </a:r>
                    </a:p>
                  </a:txBody>
                  <a:tcPr>
                    <a:solidFill>
                      <a:srgbClr val="FFFFFF"/>
                    </a:solidFill>
                  </a:tcPr>
                </a:tc>
              </a:tr>
              <a:tr h="713232">
                <a:tc>
                  <a:txBody>
                    <a:bodyPr/>
                    <a:lstStyle/>
                    <a:p>
                      <a:r>
                        <a:rPr sz="950">
                          <a:solidFill>
                            <a:srgbClr val="1F2A37"/>
                          </a:solidFill>
                        </a:rPr>
                        <a:t>G2</a:t>
                      </a:r>
                    </a:p>
                  </a:txBody>
                  <a:tcPr>
                    <a:solidFill>
                      <a:srgbClr val="FFFFFF"/>
                    </a:solidFill>
                  </a:tcPr>
                </a:tc>
                <a:tc>
                  <a:txBody>
                    <a:bodyPr/>
                    <a:lstStyle/>
                    <a:p>
                      <a:r>
                        <a:rPr sz="950">
                          <a:solidFill>
                            <a:srgbClr val="1F2A37"/>
                          </a:solidFill>
                        </a:rPr>
                        <a:t>Chunk-boundary correction loop</a:t>
                      </a:r>
                    </a:p>
                  </a:txBody>
                  <a:tcPr>
                    <a:solidFill>
                      <a:srgbClr val="FFFFFF"/>
                    </a:solidFill>
                  </a:tcPr>
                </a:tc>
                <a:tc>
                  <a:txBody>
                    <a:bodyPr/>
                    <a:lstStyle/>
                    <a:p>
                      <a:r>
                        <a:rPr sz="950">
                          <a:solidFill>
                            <a:srgbClr val="1F2A37"/>
                          </a:solidFill>
                        </a:rPr>
                        <a:t>Methods, Graph penalties and constraint feedback</a:t>
                      </a:r>
                    </a:p>
                  </a:txBody>
                  <a:tcPr>
                    <a:solidFill>
                      <a:srgbClr val="FFFFFF"/>
                    </a:solidFill>
                  </a:tcPr>
                </a:tc>
                <a:tc>
                  <a:txBody>
                    <a:bodyPr/>
                    <a:lstStyle/>
                    <a:p>
                      <a:r>
                        <a:rPr sz="950">
                          <a:solidFill>
                            <a:srgbClr val="1F2A37"/>
                          </a:solidFill>
                        </a:rPr>
                        <a:t>sample_masked in dmgsr.masked_temporal; chunk size 8, gain clip 0.15-0.85, graph strength 0.15</a:t>
                      </a:r>
                    </a:p>
                  </a:txBody>
                  <a:tcPr>
                    <a:solidFill>
                      <a:srgbClr val="FFFFFF"/>
                    </a:solidFill>
                  </a:tcPr>
                </a:tc>
                <a:tc>
                  <a:txBody>
                    <a:bodyPr/>
                    <a:lstStyle/>
                    <a:p>
                      <a:r>
                        <a:rPr sz="950">
                          <a:solidFill>
                            <a:srgbClr val="1F2A37"/>
                          </a:solidFill>
                        </a:rPr>
                        <a:t>Description only; no ablation</a:t>
                      </a:r>
                    </a:p>
                  </a:txBody>
                  <a:tcPr>
                    <a:solidFill>
                      <a:srgbClr val="FFFFFF"/>
                    </a:solidFill>
                  </a:tcPr>
                </a:tc>
              </a:tr>
              <a:tr h="713232">
                <a:tc>
                  <a:txBody>
                    <a:bodyPr/>
                    <a:lstStyle/>
                    <a:p>
                      <a:r>
                        <a:rPr sz="950">
                          <a:solidFill>
                            <a:srgbClr val="1F2A37"/>
                          </a:solidFill>
                        </a:rPr>
                        <a:t>G3</a:t>
                      </a:r>
                    </a:p>
                  </a:txBody>
                  <a:tcPr>
                    <a:solidFill>
                      <a:srgbClr val="FFFFFF"/>
                    </a:solidFill>
                  </a:tcPr>
                </a:tc>
                <a:tc>
                  <a:txBody>
                    <a:bodyPr/>
                    <a:lstStyle/>
                    <a:p>
                      <a:r>
                        <a:rPr sz="950">
                          <a:solidFill>
                            <a:srgbClr val="1F2A37"/>
                          </a:solidFill>
                        </a:rPr>
                        <a:t>Graph-regularization ablation</a:t>
                      </a:r>
                    </a:p>
                  </a:txBody>
                  <a:tcPr>
                    <a:solidFill>
                      <a:srgbClr val="FFFFFF"/>
                    </a:solidFill>
                  </a:tcPr>
                </a:tc>
                <a:tc>
                  <a:txBody>
                    <a:bodyPr/>
                    <a:lstStyle/>
                    <a:p>
                      <a:r>
                        <a:rPr sz="950">
                          <a:solidFill>
                            <a:srgbClr val="1F2A37"/>
                          </a:solidFill>
                        </a:rPr>
                        <a:t>Results, a new subsection after the matched-score results</a:t>
                      </a:r>
                    </a:p>
                  </a:txBody>
                  <a:tcPr>
                    <a:solidFill>
                      <a:srgbClr val="FFFFFF"/>
                    </a:solidFill>
                  </a:tcPr>
                </a:tc>
                <a:tc>
                  <a:txBody>
                    <a:bodyPr/>
                    <a:lstStyle/>
                    <a:p>
                      <a:r>
                        <a:rPr sz="950">
                          <a:solidFill>
                            <a:srgbClr val="1F2A37"/>
                          </a:solidFill>
                        </a:rPr>
                        <a:t>dmgsr.ablation; four matched training runs, validation CRPS selection on 2010, scoring on 2011</a:t>
                      </a:r>
                    </a:p>
                  </a:txBody>
                  <a:tcPr>
                    <a:solidFill>
                      <a:srgbClr val="FFFFFF"/>
                    </a:solidFill>
                  </a:tcPr>
                </a:tc>
                <a:tc>
                  <a:txBody>
                    <a:bodyPr/>
                    <a:lstStyle/>
                    <a:p>
                      <a:r>
                        <a:rPr sz="950">
                          <a:solidFill>
                            <a:srgbClr val="1F2A37"/>
                          </a:solidFill>
                        </a:rPr>
                        <a:t>Development-period comparison only</a:t>
                      </a:r>
                    </a:p>
                  </a:txBody>
                  <a:tcPr>
                    <a:solidFill>
                      <a:srgbClr val="FFFFFF"/>
                    </a:solidFill>
                  </a:tcPr>
                </a:tc>
              </a:tr>
            </a:tbl>
          </a:graphicData>
        </a:graphic>
      </p:graphicFrame>
      <p:sp>
        <p:nvSpPr>
          <p:cNvPr id="6" name="Rounded Rectangle 5"/>
          <p:cNvSpPr/>
          <p:nvPr/>
        </p:nvSpPr>
        <p:spPr>
          <a:xfrm>
            <a:off x="457200" y="3877056"/>
            <a:ext cx="11274552" cy="2267712"/>
          </a:xfrm>
          <a:prstGeom prst="roundRect">
            <a:avLst>
              <a:gd name="adj" fmla="val 4000"/>
            </a:avLst>
          </a:prstGeom>
          <a:solidFill>
            <a:srgbClr val="FBF4EE"/>
          </a:solidFill>
          <a:ln w="127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 y="3986784"/>
            <a:ext cx="10881360" cy="2066543"/>
          </a:xfrm>
          <a:prstGeom prst="rect">
            <a:avLst/>
          </a:prstGeom>
          <a:noFill/>
        </p:spPr>
        <p:txBody>
          <a:bodyPr wrap="square" anchor="t">
            <a:spAutoFit/>
          </a:bodyPr>
          <a:lstStyle/>
          <a:p>
            <a:pPr algn="l">
              <a:lnSpc>
                <a:spcPct val="112000"/>
              </a:lnSpc>
            </a:pPr>
            <a:r>
              <a:rPr sz="1000" b="0" i="0">
                <a:solidFill>
                  <a:srgbClr val="1F2A37"/>
                </a:solidFill>
                <a:latin typeface="Calibri"/>
              </a:rPr>
              <a:t>Omissions that no drawing can close</a:t>
            </a:r>
          </a:p>
          <a:p>
            <a:pPr algn="l">
              <a:lnSpc>
                <a:spcPct val="112000"/>
              </a:lnSpc>
            </a:pPr>
            <a:r>
              <a:rPr sz="1000" b="0" i="0">
                <a:solidFill>
                  <a:srgbClr val="1F2A37"/>
                </a:solidFill>
                <a:latin typeface="Calibri"/>
              </a:rPr>
              <a:t/>
            </a:r>
          </a:p>
          <a:p>
            <a:pPr algn="l">
              <a:lnSpc>
                <a:spcPct val="112000"/>
              </a:lnSpc>
            </a:pPr>
            <a:r>
              <a:rPr sz="1000" b="0" i="0">
                <a:solidFill>
                  <a:srgbClr val="1F2A37"/>
                </a:solidFill>
                <a:latin typeface="Calibri"/>
              </a:rPr>
              <a:t>1.  Independent validation. Calibration uses 2010 and reporting uses 2011; both were inspected during development, so G3 and the main table are development comparisons. A confirmatory figure needs the frozen pipeline re-run on a new region or period, ideally against an independently defined missingness process.</a:t>
            </a:r>
          </a:p>
          <a:p>
            <a:pPr algn="l">
              <a:lnSpc>
                <a:spcPct val="112000"/>
              </a:lnSpc>
            </a:pPr>
            <a:r>
              <a:rPr sz="1000" b="0" i="0">
                <a:solidFill>
                  <a:srgbClr val="1F2A37"/>
                </a:solidFill>
                <a:latin typeface="Calibri"/>
              </a:rPr>
              <a:t/>
            </a:r>
          </a:p>
          <a:p>
            <a:pPr algn="l">
              <a:lnSpc>
                <a:spcPct val="112000"/>
              </a:lnSpc>
            </a:pPr>
            <a:r>
              <a:rPr sz="1000" b="0" i="0">
                <a:solidFill>
                  <a:srgbClr val="1F2A37"/>
                </a:solidFill>
                <a:latin typeface="Calibri"/>
              </a:rPr>
              <a:t>2.  Sensitivity to the monthly condition. The monthly field is built from the complete reference product and therefore carries information about the hidden values. Quantifying that dependence needs new inference with degraded or partially observed aggregates.</a:t>
            </a:r>
          </a:p>
          <a:p>
            <a:pPr algn="l">
              <a:lnSpc>
                <a:spcPct val="112000"/>
              </a:lnSpc>
            </a:pPr>
            <a:r>
              <a:rPr sz="1000" b="0" i="0">
                <a:solidFill>
                  <a:srgbClr val="1F2A37"/>
                </a:solidFill>
                <a:latin typeface="Calibri"/>
              </a:rPr>
              <a:t/>
            </a:r>
          </a:p>
          <a:p>
            <a:pPr algn="l">
              <a:lnSpc>
                <a:spcPct val="112000"/>
              </a:lnSpc>
            </a:pPr>
            <a:r>
              <a:rPr sz="1000" b="0" i="0">
                <a:solidFill>
                  <a:srgbClr val="1F2A37"/>
                </a:solidFill>
                <a:latin typeface="Calibri"/>
              </a:rPr>
              <a:t>3.  External comparators. No independently implemented probabilistic imputer (for example CSDI) was trained on this protocol, so no cross-method claim is made.</a:t>
            </a:r>
          </a:p>
          <a:p>
            <a:pPr algn="l">
              <a:lnSpc>
                <a:spcPct val="112000"/>
              </a:lnSpc>
            </a:pPr>
            <a:r>
              <a:rPr sz="1000" b="0" i="0">
                <a:solidFill>
                  <a:srgbClr val="1F2A37"/>
                </a:solidFill>
                <a:latin typeface="Calibri"/>
              </a:rPr>
              <a:t/>
            </a:r>
          </a:p>
          <a:p>
            <a:pPr algn="l">
              <a:lnSpc>
                <a:spcPct val="112000"/>
              </a:lnSpc>
            </a:pPr>
            <a:r>
              <a:rPr sz="1000" b="0" i="0">
                <a:solidFill>
                  <a:srgbClr val="1F2A37"/>
                </a:solidFill>
                <a:latin typeface="Calibri"/>
              </a:rPr>
              <a:t>Cross-check of the present results. 46 numeric claims in Manuscript.tex (the main table, the deltas, the bootstrap interval, the selected calibration parameters and the physical-support count) were re-derived from paper/evidence, and agree within the reported precision; a further 7 trace and fixed-case quantities in Figures 7-8 were reproduced the same way. The audit scripts are paper/audit_numbers.py, paper/audit_figures.py and paper/audit_monthly.py.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